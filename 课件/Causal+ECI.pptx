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2"/>
  </p:notesMasterIdLst>
  <p:sldIdLst>
    <p:sldId id="314" r:id="rId2"/>
    <p:sldId id="315" r:id="rId3"/>
    <p:sldId id="319" r:id="rId4"/>
    <p:sldId id="317" r:id="rId5"/>
    <p:sldId id="318" r:id="rId6"/>
    <p:sldId id="321" r:id="rId7"/>
    <p:sldId id="322" r:id="rId8"/>
    <p:sldId id="323" r:id="rId9"/>
    <p:sldId id="324" r:id="rId10"/>
    <p:sldId id="325" r:id="rId11"/>
    <p:sldId id="336" r:id="rId12"/>
    <p:sldId id="337" r:id="rId13"/>
    <p:sldId id="326" r:id="rId14"/>
    <p:sldId id="328" r:id="rId15"/>
    <p:sldId id="329" r:id="rId16"/>
    <p:sldId id="334" r:id="rId17"/>
    <p:sldId id="330" r:id="rId18"/>
    <p:sldId id="335" r:id="rId19"/>
    <p:sldId id="332" r:id="rId20"/>
    <p:sldId id="331" r:id="rId2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91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仕宇 孙" initials="仕孙" lastIdx="1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030A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6075" autoAdjust="0"/>
  </p:normalViewPr>
  <p:slideViewPr>
    <p:cSldViewPr snapToGrid="0" showGuides="1">
      <p:cViewPr varScale="1">
        <p:scale>
          <a:sx n="124" d="100"/>
          <a:sy n="124" d="100"/>
        </p:scale>
        <p:origin x="187" y="96"/>
      </p:cViewPr>
      <p:guideLst>
        <p:guide orient="horz" pos="2191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5379C4C-20C0-495B-A83F-7510644F5652}" type="datetimeFigureOut">
              <a:rPr lang="zh-CN" altLang="en-US" smtClean="0"/>
              <a:t>2026/1/22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5D2E2FD-4E8D-467C-ACF2-00F98948124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dirty="0"/>
              <a:t>Good morning!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dirty="0"/>
              <a:t>I’m </a:t>
            </a:r>
            <a:r>
              <a:rPr lang="en-US" altLang="zh-CN" dirty="0" err="1"/>
              <a:t>ssy</a:t>
            </a:r>
            <a:r>
              <a:rPr lang="en-US" altLang="zh-CN" dirty="0"/>
              <a:t> from  Nanjing u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dirty="0"/>
              <a:t>I’m going to talk about my work for defect prediction a boosting line level defect prediction method,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dirty="0"/>
              <a:t>combining Spectrum information and Causality analysis</a:t>
            </a:r>
            <a:endParaRPr lang="zh-CN" altLang="en-US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D2E2FD-4E8D-467C-ACF2-00F98948124A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To conclude our method,</a:t>
            </a:r>
          </a:p>
          <a:p>
            <a:r>
              <a:rPr lang="en-US" altLang="zh-CN" dirty="0"/>
              <a:t>Firstly, our method </a:t>
            </a:r>
            <a:r>
              <a:rPr lang="en-US" altLang="zh-CN" sz="1200" b="1" dirty="0"/>
              <a:t>fully Exploits historical line-level label information.</a:t>
            </a:r>
          </a:p>
          <a:p>
            <a:endParaRPr lang="zh-CN" alt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200" dirty="0"/>
              <a:t>Methods mentioned above have not fully leveraged the historical code-line level labels.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200" dirty="0"/>
              <a:t>Due to the vast number of code lines and the sparsity of the tokens they contain,  using historical code-line-level label information was a significant challenge before.</a:t>
            </a:r>
            <a:endParaRPr lang="zh-CN" altLang="en-US" sz="1200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D2E2FD-4E8D-467C-ACF2-00F98948124A}" type="slidenum">
              <a:rPr lang="zh-CN" altLang="en-US" smtClean="0"/>
              <a:t>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To address this issue, we propose the method to construct a direct connection between tokens and code-line-level defects using historical code-line-level label information. </a:t>
            </a:r>
          </a:p>
          <a:p>
            <a:r>
              <a:rPr lang="en-US" altLang="zh-CN" dirty="0"/>
              <a:t>And we design a novel angle to reshape tokens and line-level defects with the term of the program spectrum and causality analysis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D2E2FD-4E8D-467C-ACF2-00F98948124A}" type="slidenum">
              <a:rPr lang="zh-CN" altLang="en-US" smtClean="0"/>
              <a:t>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To address this issue, we propose the method to construct a direct connection between tokens and code-line-level defects using historical code-line-level label information. </a:t>
            </a:r>
          </a:p>
          <a:p>
            <a:r>
              <a:rPr lang="en-US" altLang="zh-CN" dirty="0"/>
              <a:t>And we design a novel angle to reshape tokens and line-level defects with the term of the program spectrum and causality analysis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D2E2FD-4E8D-467C-ACF2-00F98948124A}" type="slidenum">
              <a:rPr lang="zh-CN" altLang="en-US" smtClean="0"/>
              <a:t>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To address this issue, we propose the method to construct a direct connection between tokens and code-line-level defects using historical code-line-level label information. </a:t>
            </a:r>
          </a:p>
          <a:p>
            <a:r>
              <a:rPr lang="en-US" altLang="zh-CN" dirty="0"/>
              <a:t>And we design a novel angle to reshape tokens and line-level defects with the term of the program spectrum and causality analysis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D2E2FD-4E8D-467C-ACF2-00F98948124A}" type="slidenum">
              <a:rPr lang="zh-CN" altLang="en-US" smtClean="0"/>
              <a:t>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To address this issue, we propose the method to construct a direct connection between tokens and code-line-level defects using historical code-line-level label information. </a:t>
            </a:r>
          </a:p>
          <a:p>
            <a:r>
              <a:rPr lang="en-US" altLang="zh-CN" dirty="0"/>
              <a:t>And we design a novel angle to reshape tokens and line-level defects with the term of the program spectrum and causality analysis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D2E2FD-4E8D-467C-ACF2-00F98948124A}" type="slidenum">
              <a:rPr lang="zh-CN" altLang="en-US" smtClean="0"/>
              <a:t>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dirty="0"/>
              <a:t>Good morning!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dirty="0"/>
              <a:t>I’m </a:t>
            </a:r>
            <a:r>
              <a:rPr lang="en-US" altLang="zh-CN" dirty="0" err="1"/>
              <a:t>ssy</a:t>
            </a:r>
            <a:r>
              <a:rPr lang="en-US" altLang="zh-CN" dirty="0"/>
              <a:t> from  Nanjing u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dirty="0"/>
              <a:t>I’m going to talk about my work for defect prediction a boosting line level defect prediction method,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dirty="0"/>
              <a:t>combining Spectrum information and Causality analysis</a:t>
            </a:r>
            <a:endParaRPr lang="zh-CN" altLang="en-US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D2E2FD-4E8D-467C-ACF2-00F98948124A}" type="slidenum">
              <a:rPr lang="zh-CN" altLang="en-US" smtClean="0"/>
              <a:t>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To conclude our method,</a:t>
            </a:r>
          </a:p>
          <a:p>
            <a:r>
              <a:rPr lang="en-US" altLang="zh-CN" dirty="0"/>
              <a:t>Firstly, our method </a:t>
            </a:r>
            <a:r>
              <a:rPr lang="en-US" altLang="zh-CN" sz="1200" b="1" dirty="0"/>
              <a:t>fully Exploits historical line-level label information.</a:t>
            </a:r>
          </a:p>
          <a:p>
            <a:endParaRPr lang="zh-CN" alt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200" dirty="0"/>
              <a:t>Methods mentioned above have not fully leveraged the historical code-line level labels.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200" dirty="0"/>
              <a:t>Due to the vast number of code lines and the sparsity of the tokens they contain,  using historical code-line-level label information was a significant challenge before.</a:t>
            </a:r>
            <a:endParaRPr lang="zh-CN" altLang="en-US" sz="1200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D2E2FD-4E8D-467C-ACF2-00F98948124A}" type="slidenum">
              <a:rPr lang="zh-CN" altLang="en-US" smtClean="0"/>
              <a:t>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To address this issue, we propose the method to construct a direct connection between tokens and code-line-level defects using historical code-line-level label information. </a:t>
            </a:r>
          </a:p>
          <a:p>
            <a:r>
              <a:rPr lang="en-US" altLang="zh-CN" dirty="0"/>
              <a:t>And we design a novel angle to reshape tokens and line-level defects with the term of the program spectrum and causality analysis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D2E2FD-4E8D-467C-ACF2-00F98948124A}" type="slidenum">
              <a:rPr lang="zh-CN" altLang="en-US" smtClean="0"/>
              <a:t>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To address this issue, we propose the method to construct a direct connection between tokens and code-line-level defects using historical code-line-level label information. </a:t>
            </a:r>
          </a:p>
          <a:p>
            <a:r>
              <a:rPr lang="en-US" altLang="zh-CN" dirty="0"/>
              <a:t>And we design a novel angle to reshape tokens and line-level defects with the term of the program spectrum and causality analysis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D2E2FD-4E8D-467C-ACF2-00F98948124A}" type="slidenum">
              <a:rPr lang="zh-CN" altLang="en-US" smtClean="0"/>
              <a:t>10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EA392E-D438-5BB0-2601-02993AE3E8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0327372-9C36-B8DB-C415-24F01B42AB3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A26972F-0468-963C-F007-D4F796FD56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To address this issue, we propose the method to construct a direct connection between tokens and code-line-level defects using historical code-line-level label information. </a:t>
            </a:r>
          </a:p>
          <a:p>
            <a:r>
              <a:rPr lang="en-US" altLang="zh-CN" dirty="0"/>
              <a:t>And we design a novel angle to reshape tokens and line-level defects with the term of the program spectrum and causality analysis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5822957-D3D1-F7A8-1EC6-E1677047DA9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D2E2FD-4E8D-467C-ACF2-00F98948124A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4074206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E5F26D-9711-0B53-591F-87F03E92DC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20433D3-C381-6C29-92F1-4D1E539541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D38FC28-A15C-815F-B059-F7C71084D1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To address this issue, we propose the method to construct a direct connection between tokens and code-line-level defects using historical code-line-level label information. </a:t>
            </a:r>
          </a:p>
          <a:p>
            <a:r>
              <a:rPr lang="en-US" altLang="zh-CN" dirty="0"/>
              <a:t>And we design a novel angle to reshape tokens and line-level defects with the term of the program spectrum and causality analysis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D0BC5FB-7CD5-3C3D-F6C2-39FDBB74891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D2E2FD-4E8D-467C-ACF2-00F98948124A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6572530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To address this issue, we propose the method to construct a direct connection between tokens and code-line-level defects using historical code-line-level label information. </a:t>
            </a:r>
          </a:p>
          <a:p>
            <a:r>
              <a:rPr lang="en-US" altLang="zh-CN" dirty="0"/>
              <a:t>And we design a novel angle to reshape tokens and line-level defects with the term of the program spectrum and causality analysis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D2E2FD-4E8D-467C-ACF2-00F98948124A}" type="slidenum">
              <a:rPr lang="zh-CN" altLang="en-US" smtClean="0"/>
              <a:t>13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dirty="0"/>
              <a:t>Good morning!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dirty="0"/>
              <a:t>I’m </a:t>
            </a:r>
            <a:r>
              <a:rPr lang="en-US" altLang="zh-CN" dirty="0" err="1"/>
              <a:t>ssy</a:t>
            </a:r>
            <a:r>
              <a:rPr lang="en-US" altLang="zh-CN" dirty="0"/>
              <a:t> from  Nanjing u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dirty="0"/>
              <a:t>I’m going to talk about my work for defect prediction a boosting line level defect prediction method,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dirty="0"/>
              <a:t>combining Spectrum information and Causality analysis</a:t>
            </a:r>
            <a:endParaRPr lang="zh-CN" altLang="en-US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D2E2FD-4E8D-467C-ACF2-00F98948124A}" type="slidenum">
              <a:rPr lang="zh-CN" altLang="en-US" smtClean="0"/>
              <a:t>14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To conclude our method,</a:t>
            </a:r>
          </a:p>
          <a:p>
            <a:r>
              <a:rPr lang="en-US" altLang="zh-CN" dirty="0"/>
              <a:t>Firstly, our method </a:t>
            </a:r>
            <a:r>
              <a:rPr lang="en-US" altLang="zh-CN" sz="1200" b="1" dirty="0"/>
              <a:t>fully Exploits historical line-level label information.</a:t>
            </a:r>
          </a:p>
          <a:p>
            <a:endParaRPr lang="zh-CN" alt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200" dirty="0"/>
              <a:t>Methods mentioned above have not fully leveraged the historical code-line level labels.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200" dirty="0"/>
              <a:t>Due to the vast number of code lines and the sparsity of the tokens they contain,  using historical code-line-level label information was a significant challenge before.</a:t>
            </a:r>
            <a:endParaRPr lang="zh-CN" altLang="en-US" sz="1200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D2E2FD-4E8D-467C-ACF2-00F98948124A}" type="slidenum">
              <a:rPr lang="zh-CN" altLang="en-US" smtClean="0"/>
              <a:t>15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A61BA8-6A5F-B137-E9AA-2475677C2B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36E1759-1908-ABB9-E081-81E7B4A1A9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A09E0DD-015A-4BFF-59B2-6B94458D15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To conclude our method,</a:t>
            </a:r>
          </a:p>
          <a:p>
            <a:r>
              <a:rPr lang="en-US" altLang="zh-CN" dirty="0"/>
              <a:t>Firstly, our method </a:t>
            </a:r>
            <a:r>
              <a:rPr lang="en-US" altLang="zh-CN" sz="1200" b="1" dirty="0"/>
              <a:t>fully Exploits historical line-level label information.</a:t>
            </a:r>
          </a:p>
          <a:p>
            <a:endParaRPr lang="zh-CN" alt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200" dirty="0"/>
              <a:t>Methods mentioned above have not fully leveraged the historical code-line level labels.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200" dirty="0"/>
              <a:t>Due to the vast number of code lines and the sparsity of the tokens they contain,  using historical code-line-level label information was a significant challenge before.</a:t>
            </a:r>
            <a:endParaRPr lang="zh-CN" altLang="en-US" sz="1200" dirty="0"/>
          </a:p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E27BE3C-F648-43B8-4C66-52BCB3CA6DA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D2E2FD-4E8D-467C-ACF2-00F98948124A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4298258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To address this issue, we propose the method to construct a direct connection between tokens and code-line-level defects using historical code-line-level label information. </a:t>
            </a:r>
          </a:p>
          <a:p>
            <a:r>
              <a:rPr lang="en-US" altLang="zh-CN" dirty="0"/>
              <a:t>And we design a novel angle to reshape tokens and line-level defects with the term of the program spectrum and causality analysis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D2E2FD-4E8D-467C-ACF2-00F98948124A}" type="slidenum">
              <a:rPr lang="zh-CN" altLang="en-US" smtClean="0"/>
              <a:t>17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5C2D97-E07B-78AE-B2BA-A32D85F27D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BC5D55C-D4F3-5F47-1305-AAF544FFB3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5570EB5-0E92-150C-67D9-F0CAE4FD7E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To address this issue, we propose the method to construct a direct connection between tokens and code-line-level defects using historical code-line-level label information. </a:t>
            </a:r>
          </a:p>
          <a:p>
            <a:r>
              <a:rPr lang="en-US" altLang="zh-CN" dirty="0"/>
              <a:t>And we design a novel angle to reshape tokens and line-level defects with the term of the program spectrum and causality analysis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E9F89F0-3041-5890-F5EC-7BD4944DFD5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D2E2FD-4E8D-467C-ACF2-00F98948124A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2311343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To address this issue, we propose the method to construct a direct connection between tokens and code-line-level defects using historical code-line-level label information. </a:t>
            </a:r>
          </a:p>
          <a:p>
            <a:r>
              <a:rPr lang="en-US" altLang="zh-CN" dirty="0"/>
              <a:t>And we design a novel angle to reshape tokens and line-level defects with the term of the program spectrum and causality analysis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D2E2FD-4E8D-467C-ACF2-00F98948124A}" type="slidenum">
              <a:rPr lang="zh-CN" altLang="en-US" smtClean="0"/>
              <a:t>19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To address this issue, we propose the method to construct a direct connection between tokens and code-line-level defects using historical code-line-level label information. </a:t>
            </a:r>
          </a:p>
          <a:p>
            <a:r>
              <a:rPr lang="en-US" altLang="zh-CN" dirty="0"/>
              <a:t>And we design a novel angle to reshape tokens and line-level defects with the term of the program spectrum and causality analysis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D2E2FD-4E8D-467C-ACF2-00F98948124A}" type="slidenum">
              <a:rPr lang="zh-CN" altLang="en-US" smtClean="0"/>
              <a:t>20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2025/5/2</a:t>
            </a: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0ECF65-907A-42C7-8298-DAADFCC5AA3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2025/5/2</a:t>
            </a: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0ECF65-907A-42C7-8298-DAADFCC5AA3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2025/5/2</a:t>
            </a: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0ECF65-907A-42C7-8298-DAADFCC5AA3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2025/5/2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0ECF65-907A-42C7-8298-DAADFCC5AA3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2025/5/2</a:t>
            </a:r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0ECF65-907A-42C7-8298-DAADFCC5AA3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2025/5/2</a:t>
            </a:r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0ECF65-907A-42C7-8298-DAADFCC5AA3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2025/5/2</a:t>
            </a:r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0ECF65-907A-42C7-8298-DAADFCC5AA3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2025/5/2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0ECF65-907A-42C7-8298-DAADFCC5AA3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2025/5/2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0ECF65-907A-42C7-8298-DAADFCC5AA3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2025/5/2</a:t>
            </a: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0ECF65-907A-42C7-8298-DAADFCC5AA3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2025/5/2</a:t>
            </a: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0ECF65-907A-42C7-8298-DAADFCC5AA3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altLang="zh-CN"/>
              <a:t>2025/5/2</a:t>
            </a: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0ECF65-907A-42C7-8298-DAADFCC5AA3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hyperlink" Target="https://zhida.zhihu.com/search?content_id=263149511&amp;content_type=Article&amp;match_order=1&amp;q=DECI&amp;zhida_source=entity" TargetMode="External"/><Relationship Id="rId4" Type="http://schemas.openxmlformats.org/officeDocument/2006/relationships/hyperlink" Target="https://zhida.zhihu.com/search?content_id=263149511&amp;content_type=Article&amp;match_order=1&amp;q=SECI&amp;zhida_source=entity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zhida.zhihu.com/search?content_id=263149511&amp;content_type=Article&amp;match_order=1&amp;q=%E5%A4%9A%E8%AF%AD%E7%A7%8D%E9%A2%84%E8%AE%AD%E7%BB%83%E6%A8%A1%E5%9E%8B&amp;zhida_source=entity" TargetMode="External"/><Relationship Id="rId4" Type="http://schemas.openxmlformats.org/officeDocument/2006/relationships/hyperlink" Target="https://zhida.zhihu.com/search?content_id=263149511&amp;content_type=Article&amp;match_order=1&amp;q=LLM&amp;zhida_source=entity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lftk.readthedocs.io/en/latest/index.html" TargetMode="Externa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070548" y="2026487"/>
            <a:ext cx="10134862" cy="1402513"/>
          </a:xfrm>
        </p:spPr>
        <p:txBody>
          <a:bodyPr>
            <a:normAutofit fontScale="90000"/>
          </a:bodyPr>
          <a:lstStyle/>
          <a:p>
            <a:r>
              <a:rPr lang="en-US" altLang="zh-CN" sz="4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A Survey of Event Causality Identification: Taxonomy, Challenges, Assessment, and Prospects</a:t>
            </a: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8394" y="249107"/>
            <a:ext cx="2645535" cy="841313"/>
          </a:xfrm>
          <a:prstGeom prst="rect">
            <a:avLst/>
          </a:prstGeom>
        </p:spPr>
      </p:pic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0ECF65-907A-42C7-8298-DAADFCC5AA34}" type="slidenum">
              <a:rPr lang="zh-CN" altLang="en-US" smtClean="0"/>
              <a:t>1</a:t>
            </a:fld>
            <a:endParaRPr lang="zh-CN" altLang="en-US" dirty="0"/>
          </a:p>
        </p:txBody>
      </p:sp>
      <p:sp>
        <p:nvSpPr>
          <p:cNvPr id="3" name="文本框 2"/>
          <p:cNvSpPr txBox="1"/>
          <p:nvPr/>
        </p:nvSpPr>
        <p:spPr>
          <a:xfrm>
            <a:off x="3337286" y="3841847"/>
            <a:ext cx="5517427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/>
              <a:t>ACM Computing Surveys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0ECF65-907A-42C7-8298-DAADFCC5AA34}" type="slidenum">
              <a:rPr lang="zh-CN" altLang="en-US" smtClean="0"/>
              <a:t>2</a:t>
            </a:fld>
            <a:endParaRPr lang="zh-CN" altLang="en-US"/>
          </a:p>
        </p:txBody>
      </p:sp>
      <p:cxnSp>
        <p:nvCxnSpPr>
          <p:cNvPr id="11" name="直接连接符 10"/>
          <p:cNvCxnSpPr/>
          <p:nvPr/>
        </p:nvCxnSpPr>
        <p:spPr>
          <a:xfrm flipV="1">
            <a:off x="888086" y="641433"/>
            <a:ext cx="10243692" cy="13555"/>
          </a:xfrm>
          <a:prstGeom prst="line">
            <a:avLst/>
          </a:prstGeom>
          <a:ln w="12700">
            <a:solidFill>
              <a:schemeClr val="accent3">
                <a:lumMod val="50000"/>
                <a:alpha val="50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3" name="文本框 12"/>
          <p:cNvSpPr txBox="1"/>
          <p:nvPr/>
        </p:nvSpPr>
        <p:spPr>
          <a:xfrm>
            <a:off x="936876" y="216323"/>
            <a:ext cx="795988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概念</a:t>
            </a:r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2818" y="299692"/>
            <a:ext cx="487370" cy="610980"/>
          </a:xfrm>
          <a:prstGeom prst="rect">
            <a:avLst/>
          </a:prstGeom>
        </p:spPr>
      </p:pic>
      <p:cxnSp>
        <p:nvCxnSpPr>
          <p:cNvPr id="17" name="直接连接符 16"/>
          <p:cNvCxnSpPr/>
          <p:nvPr/>
        </p:nvCxnSpPr>
        <p:spPr>
          <a:xfrm flipV="1">
            <a:off x="1060221" y="6304583"/>
            <a:ext cx="10071557" cy="1"/>
          </a:xfrm>
          <a:prstGeom prst="line">
            <a:avLst/>
          </a:prstGeom>
          <a:ln w="12700">
            <a:solidFill>
              <a:schemeClr val="accent3">
                <a:lumMod val="50000"/>
                <a:alpha val="50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3" name="直接连接符 2"/>
          <p:cNvCxnSpPr/>
          <p:nvPr/>
        </p:nvCxnSpPr>
        <p:spPr>
          <a:xfrm>
            <a:off x="888086" y="214862"/>
            <a:ext cx="0" cy="695810"/>
          </a:xfrm>
          <a:prstGeom prst="line">
            <a:avLst/>
          </a:prstGeom>
          <a:ln w="12700">
            <a:solidFill>
              <a:schemeClr val="dk1">
                <a:alpha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1000954" y="992841"/>
            <a:ext cx="9167280" cy="30162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事件：以触发词（如“爆炸”“离婚”）为核心的客观事实。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事件因果关系：若事件</a:t>
            </a:r>
            <a:r>
              <a:rPr lang="en-US" altLang="zh-CN" dirty="0"/>
              <a:t>A</a:t>
            </a:r>
            <a:r>
              <a:rPr lang="zh-CN" altLang="en-US" dirty="0"/>
              <a:t>直接导致事件</a:t>
            </a:r>
            <a:r>
              <a:rPr lang="en-US" altLang="zh-CN" dirty="0"/>
              <a:t>B</a:t>
            </a:r>
            <a:r>
              <a:rPr lang="zh-CN" altLang="en-US" dirty="0"/>
              <a:t>，记作</a:t>
            </a:r>
            <a:r>
              <a:rPr lang="en-US" altLang="zh-CN" dirty="0"/>
              <a:t>A→B</a:t>
            </a:r>
            <a:r>
              <a:rPr lang="zh-CN" altLang="en-US" dirty="0"/>
              <a:t>，需满足“使能</a:t>
            </a:r>
            <a:r>
              <a:rPr lang="en-US" altLang="zh-CN" dirty="0"/>
              <a:t>/</a:t>
            </a:r>
            <a:r>
              <a:rPr lang="zh-CN" altLang="en-US" dirty="0"/>
              <a:t>阻止、反事实依赖或确定性蕴涵”三条件之一。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b="1" dirty="0"/>
              <a:t>输入</a:t>
            </a:r>
            <a:r>
              <a:rPr lang="zh-CN" altLang="en-US" dirty="0"/>
              <a:t>：文本</a:t>
            </a:r>
            <a:r>
              <a:rPr lang="en-US" altLang="zh-CN" dirty="0"/>
              <a:t>+</a:t>
            </a:r>
            <a:r>
              <a:rPr lang="zh-CN" altLang="en-US" dirty="0"/>
              <a:t>已识别事件集合；</a:t>
            </a:r>
            <a:r>
              <a:rPr lang="zh-CN" altLang="en-US" b="1" dirty="0"/>
              <a:t>输出</a:t>
            </a:r>
            <a:r>
              <a:rPr lang="zh-CN" altLang="en-US" dirty="0"/>
              <a:t>：因果对及方向，或“无因果”。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任务划分：</a:t>
            </a:r>
          </a:p>
          <a:p>
            <a:pPr marL="800100" lvl="1" indent="-342900">
              <a:buFont typeface="+mj-lt"/>
              <a:buAutoNum type="arabicPeriod"/>
            </a:pPr>
            <a:r>
              <a:rPr lang="zh-CN" altLang="en-US" dirty="0"/>
              <a:t>句子级 </a:t>
            </a:r>
            <a:r>
              <a:rPr lang="en-US" altLang="zh-CN" dirty="0">
                <a:hlinkClick r:id="rId4"/>
              </a:rPr>
              <a:t>SECI</a:t>
            </a:r>
            <a:r>
              <a:rPr lang="zh-CN" altLang="en-US" dirty="0"/>
              <a:t>：单句内显式或隐式因果。</a:t>
            </a:r>
          </a:p>
          <a:p>
            <a:pPr marL="800100" lvl="1" indent="-342900">
              <a:buFont typeface="+mj-lt"/>
              <a:buAutoNum type="arabicPeriod"/>
            </a:pPr>
            <a:r>
              <a:rPr lang="zh-CN" altLang="en-US" dirty="0"/>
              <a:t>文档级 </a:t>
            </a:r>
            <a:r>
              <a:rPr lang="en-US" altLang="zh-CN" dirty="0">
                <a:hlinkClick r:id="rId5"/>
              </a:rPr>
              <a:t>DECI</a:t>
            </a:r>
            <a:r>
              <a:rPr lang="zh-CN" altLang="en-US" dirty="0"/>
              <a:t>：跨句、跨段、多跳因果链。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学习范式：监督、少样本、零样本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语言形态：单语、跨语、多模态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zh-CN" altLang="en-US" sz="2800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193A0455-D272-E479-46CF-5BFF3FB76B3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2189" y="3557041"/>
            <a:ext cx="11447619" cy="316190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0ECF65-907A-42C7-8298-DAADFCC5AA34}" type="slidenum">
              <a:rPr lang="zh-CN" altLang="en-US" smtClean="0"/>
              <a:t>3</a:t>
            </a:fld>
            <a:endParaRPr lang="zh-CN" altLang="en-US"/>
          </a:p>
        </p:txBody>
      </p:sp>
      <p:cxnSp>
        <p:nvCxnSpPr>
          <p:cNvPr id="11" name="直接连接符 10"/>
          <p:cNvCxnSpPr/>
          <p:nvPr/>
        </p:nvCxnSpPr>
        <p:spPr>
          <a:xfrm flipV="1">
            <a:off x="888086" y="641433"/>
            <a:ext cx="10243692" cy="13555"/>
          </a:xfrm>
          <a:prstGeom prst="line">
            <a:avLst/>
          </a:prstGeom>
          <a:ln w="12700">
            <a:solidFill>
              <a:schemeClr val="accent3">
                <a:lumMod val="50000"/>
                <a:alpha val="50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3" name="文本框 12"/>
          <p:cNvSpPr txBox="1"/>
          <p:nvPr/>
        </p:nvSpPr>
        <p:spPr>
          <a:xfrm>
            <a:off x="936876" y="216323"/>
            <a:ext cx="795988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数据集</a:t>
            </a:r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2818" y="299692"/>
            <a:ext cx="487370" cy="610980"/>
          </a:xfrm>
          <a:prstGeom prst="rect">
            <a:avLst/>
          </a:prstGeom>
        </p:spPr>
      </p:pic>
      <p:cxnSp>
        <p:nvCxnSpPr>
          <p:cNvPr id="17" name="直接连接符 16"/>
          <p:cNvCxnSpPr/>
          <p:nvPr/>
        </p:nvCxnSpPr>
        <p:spPr>
          <a:xfrm flipV="1">
            <a:off x="1060221" y="6304583"/>
            <a:ext cx="10071557" cy="1"/>
          </a:xfrm>
          <a:prstGeom prst="line">
            <a:avLst/>
          </a:prstGeom>
          <a:ln w="12700">
            <a:solidFill>
              <a:schemeClr val="accent3">
                <a:lumMod val="50000"/>
                <a:alpha val="50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3" name="直接连接符 2"/>
          <p:cNvCxnSpPr/>
          <p:nvPr/>
        </p:nvCxnSpPr>
        <p:spPr>
          <a:xfrm>
            <a:off x="888086" y="214862"/>
            <a:ext cx="0" cy="695810"/>
          </a:xfrm>
          <a:prstGeom prst="line">
            <a:avLst/>
          </a:prstGeom>
          <a:ln w="12700">
            <a:solidFill>
              <a:schemeClr val="dk1">
                <a:alpha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1060221" y="1399241"/>
            <a:ext cx="9167280" cy="32316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fontAlgn="base">
              <a:buFont typeface="+mj-lt"/>
              <a:buAutoNum type="arabicPeriod"/>
            </a:pPr>
            <a:r>
              <a:rPr lang="en-US" altLang="zh-CN" sz="2400" dirty="0"/>
              <a:t>CTB</a:t>
            </a:r>
            <a:r>
              <a:rPr lang="zh-CN" altLang="en-US" sz="2400" dirty="0"/>
              <a:t>（</a:t>
            </a:r>
            <a:r>
              <a:rPr lang="en-US" altLang="zh-CN" sz="2400" dirty="0"/>
              <a:t>Causal-</a:t>
            </a:r>
            <a:r>
              <a:rPr lang="en-US" altLang="zh-CN" sz="2400" dirty="0" err="1"/>
              <a:t>TimeBank</a:t>
            </a:r>
            <a:r>
              <a:rPr lang="zh-CN" altLang="en-US" sz="2400" dirty="0"/>
              <a:t>）</a:t>
            </a:r>
            <a:endParaRPr lang="en-US" altLang="zh-CN" sz="2400" dirty="0"/>
          </a:p>
          <a:p>
            <a:pPr marL="342900" indent="-342900" fontAlgn="base">
              <a:buFont typeface="+mj-lt"/>
              <a:buAutoNum type="arabicPeriod"/>
            </a:pPr>
            <a:endParaRPr lang="zh-CN" altLang="en-US" sz="2400" dirty="0"/>
          </a:p>
          <a:p>
            <a:pPr marL="342900" indent="-342900" fontAlgn="base">
              <a:buFont typeface="+mj-lt"/>
              <a:buAutoNum type="arabicPeriod"/>
            </a:pPr>
            <a:r>
              <a:rPr lang="en-US" altLang="zh-CN" sz="2400" dirty="0"/>
              <a:t>ESL</a:t>
            </a:r>
            <a:r>
              <a:rPr lang="zh-CN" altLang="en-US" sz="2400" dirty="0"/>
              <a:t>（</a:t>
            </a:r>
            <a:r>
              <a:rPr lang="en-US" altLang="zh-CN" sz="2400" dirty="0" err="1"/>
              <a:t>EventStoryLine</a:t>
            </a:r>
            <a:r>
              <a:rPr lang="en-US" altLang="zh-CN" sz="2400" dirty="0"/>
              <a:t> v0.9</a:t>
            </a:r>
            <a:r>
              <a:rPr lang="zh-CN" altLang="en-US" sz="2400" dirty="0"/>
              <a:t>）</a:t>
            </a:r>
            <a:endParaRPr lang="en-US" altLang="zh-CN" sz="2400" dirty="0"/>
          </a:p>
          <a:p>
            <a:pPr marL="342900" indent="-342900" fontAlgn="base">
              <a:buFont typeface="+mj-lt"/>
              <a:buAutoNum type="arabicPeriod"/>
            </a:pPr>
            <a:endParaRPr lang="zh-CN" altLang="en-US" sz="2400" dirty="0"/>
          </a:p>
          <a:p>
            <a:pPr marL="342900" indent="-342900" fontAlgn="base">
              <a:buFont typeface="+mj-lt"/>
              <a:buAutoNum type="arabicPeriod"/>
            </a:pPr>
            <a:r>
              <a:rPr lang="en-US" altLang="zh-CN" sz="2400" dirty="0"/>
              <a:t>MAVEN-ERE</a:t>
            </a:r>
          </a:p>
          <a:p>
            <a:pPr marL="342900" indent="-342900" fontAlgn="base">
              <a:buFont typeface="+mj-lt"/>
              <a:buAutoNum type="arabicPeriod"/>
            </a:pPr>
            <a:endParaRPr lang="en-US" altLang="zh-CN" sz="2400" dirty="0"/>
          </a:p>
          <a:p>
            <a:pPr marL="342900" indent="-342900" fontAlgn="base">
              <a:buFont typeface="+mj-lt"/>
              <a:buAutoNum type="arabicPeriod"/>
            </a:pPr>
            <a:r>
              <a:rPr lang="en-US" altLang="zh-CN" sz="2400" dirty="0"/>
              <a:t>MECI</a:t>
            </a:r>
            <a:r>
              <a:rPr lang="zh-CN" altLang="en-US" sz="2400" dirty="0"/>
              <a:t>（</a:t>
            </a:r>
            <a:r>
              <a:rPr lang="en-US" altLang="zh-CN" sz="2400" dirty="0"/>
              <a:t>Multilingual Event Causality Identification</a:t>
            </a:r>
            <a:r>
              <a:rPr lang="zh-CN" altLang="en-US" sz="2400" dirty="0"/>
              <a:t>）：机器翻译</a:t>
            </a:r>
          </a:p>
          <a:p>
            <a:endParaRPr lang="en-US" altLang="zh-CN" sz="3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0ECF65-907A-42C7-8298-DAADFCC5AA34}" type="slidenum">
              <a:rPr lang="zh-CN" altLang="en-US" smtClean="0"/>
              <a:t>4</a:t>
            </a:fld>
            <a:endParaRPr lang="zh-CN" altLang="en-US"/>
          </a:p>
        </p:txBody>
      </p:sp>
      <p:cxnSp>
        <p:nvCxnSpPr>
          <p:cNvPr id="11" name="直接连接符 10"/>
          <p:cNvCxnSpPr/>
          <p:nvPr/>
        </p:nvCxnSpPr>
        <p:spPr>
          <a:xfrm flipV="1">
            <a:off x="888086" y="641433"/>
            <a:ext cx="10243692" cy="13555"/>
          </a:xfrm>
          <a:prstGeom prst="line">
            <a:avLst/>
          </a:prstGeom>
          <a:ln w="12700">
            <a:solidFill>
              <a:schemeClr val="accent3">
                <a:lumMod val="50000"/>
                <a:alpha val="50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3" name="文本框 12"/>
          <p:cNvSpPr txBox="1"/>
          <p:nvPr/>
        </p:nvSpPr>
        <p:spPr>
          <a:xfrm>
            <a:off x="888085" y="214862"/>
            <a:ext cx="795988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DECI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2818" y="299692"/>
            <a:ext cx="487370" cy="610980"/>
          </a:xfrm>
          <a:prstGeom prst="rect">
            <a:avLst/>
          </a:prstGeom>
        </p:spPr>
      </p:pic>
      <p:cxnSp>
        <p:nvCxnSpPr>
          <p:cNvPr id="17" name="直接连接符 16"/>
          <p:cNvCxnSpPr/>
          <p:nvPr/>
        </p:nvCxnSpPr>
        <p:spPr>
          <a:xfrm flipV="1">
            <a:off x="1060221" y="6304583"/>
            <a:ext cx="10071557" cy="1"/>
          </a:xfrm>
          <a:prstGeom prst="line">
            <a:avLst/>
          </a:prstGeom>
          <a:ln w="12700">
            <a:solidFill>
              <a:schemeClr val="accent3">
                <a:lumMod val="50000"/>
                <a:alpha val="50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3" name="直接连接符 2"/>
          <p:cNvCxnSpPr/>
          <p:nvPr/>
        </p:nvCxnSpPr>
        <p:spPr>
          <a:xfrm>
            <a:off x="888086" y="214862"/>
            <a:ext cx="0" cy="695810"/>
          </a:xfrm>
          <a:prstGeom prst="line">
            <a:avLst/>
          </a:prstGeom>
          <a:ln w="12700">
            <a:solidFill>
              <a:schemeClr val="dk1">
                <a:alpha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814070" y="1081559"/>
            <a:ext cx="10317708" cy="459957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b="1" dirty="0"/>
              <a:t>文档事件因果关系识别</a:t>
            </a:r>
            <a:endParaRPr lang="en-US" altLang="zh-CN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b="1" dirty="0"/>
              <a:t>深度语义编码方法</a:t>
            </a:r>
            <a:r>
              <a:rPr lang="en-US" altLang="zh-CN" b="1" dirty="0"/>
              <a:t>Deep Semantic Encoding</a:t>
            </a:r>
            <a:r>
              <a:rPr lang="zh-CN" altLang="en-US" dirty="0"/>
              <a:t>，与</a:t>
            </a:r>
            <a:r>
              <a:rPr lang="en-US" altLang="zh-CN" dirty="0"/>
              <a:t>SECI</a:t>
            </a:r>
            <a:r>
              <a:rPr lang="zh-CN" altLang="en-US" dirty="0"/>
              <a:t>方法类似，此类方法采用稀疏注意力、滑窗分层或扩散去噪等机制，对序列进行建模，捕捉跨段依赖并生成事件向量。该范式完全沿用预训练语言模型的参数，无需额外结构，工程实现简洁，但受限于最大长度，需在“分段”与“全局”间折中，且对多跳隐式因果的显式推理能力较弱。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zh-CN" alt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b="1" dirty="0"/>
              <a:t>事件图推理方法</a:t>
            </a:r>
            <a:r>
              <a:rPr lang="en-US" altLang="zh-CN" b="1" dirty="0"/>
              <a:t>Event Graph Reasoning-based Methods</a:t>
            </a:r>
            <a:r>
              <a:rPr lang="zh-CN" altLang="en-US" dirty="0"/>
              <a:t>，将“事件</a:t>
            </a:r>
            <a:r>
              <a:rPr lang="en-US" altLang="zh-CN" dirty="0"/>
              <a:t>—</a:t>
            </a:r>
            <a:r>
              <a:rPr lang="zh-CN" altLang="en-US" dirty="0"/>
              <a:t>提及</a:t>
            </a:r>
            <a:r>
              <a:rPr lang="en-US" altLang="zh-CN" dirty="0"/>
              <a:t>—</a:t>
            </a:r>
            <a:r>
              <a:rPr lang="zh-CN" altLang="en-US" dirty="0"/>
              <a:t>句子</a:t>
            </a:r>
            <a:r>
              <a:rPr lang="en-US" altLang="zh-CN" dirty="0"/>
              <a:t>—</a:t>
            </a:r>
            <a:r>
              <a:rPr lang="zh-CN" altLang="en-US" dirty="0"/>
              <a:t>实体”统一视为节点，因果、共指、时序、 </a:t>
            </a:r>
            <a:r>
              <a:rPr lang="en-US" altLang="zh-CN" dirty="0"/>
              <a:t>discourse </a:t>
            </a:r>
            <a:r>
              <a:rPr lang="zh-CN" altLang="en-US" dirty="0"/>
              <a:t>等关系视为多类型边，构成异构或超图；通过图编码器沿边迭代聚合，使跨句信息沿高阶路径回流到事件节点，再用双仿射或注意力分类器判定边类型。其优势是推理过程显性、可解释，但随文档长度平方级增长的边规模和异构聚合的调参复杂度，成为落地的主要障碍。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zh-CN" alt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b="1" dirty="0"/>
              <a:t>提升微调方法</a:t>
            </a:r>
            <a:r>
              <a:rPr lang="en-US" altLang="zh-CN" b="1" dirty="0">
                <a:solidFill>
                  <a:srgbClr val="FF0000"/>
                </a:solidFill>
              </a:rPr>
              <a:t>Prompt-based Fine-tuning</a:t>
            </a:r>
            <a:r>
              <a:rPr lang="zh-CN" altLang="en-US" dirty="0"/>
              <a:t>，把文本输入大模型，用自然语言前缀触发思考，或先让模型生成摘要、时间线，再对压缩文本做因果问答。生成式输出省去复杂架构，可覆盖多语种、多领域。然而，长文本易淹没关键信号，模型的跨句识别性能可能会随文本长度和事件距离的增加而减弱。</a:t>
            </a:r>
          </a:p>
          <a:p>
            <a:endParaRPr lang="zh-CN" altLang="en-US" sz="2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0ECF65-907A-42C7-8298-DAADFCC5AA34}" type="slidenum">
              <a:rPr lang="zh-CN" altLang="en-US" smtClean="0"/>
              <a:t>5</a:t>
            </a:fld>
            <a:endParaRPr lang="zh-CN" altLang="en-US"/>
          </a:p>
        </p:txBody>
      </p:sp>
      <p:cxnSp>
        <p:nvCxnSpPr>
          <p:cNvPr id="11" name="直接连接符 10"/>
          <p:cNvCxnSpPr/>
          <p:nvPr/>
        </p:nvCxnSpPr>
        <p:spPr>
          <a:xfrm flipV="1">
            <a:off x="888086" y="641433"/>
            <a:ext cx="10243692" cy="13555"/>
          </a:xfrm>
          <a:prstGeom prst="line">
            <a:avLst/>
          </a:prstGeom>
          <a:ln w="12700">
            <a:solidFill>
              <a:schemeClr val="accent3">
                <a:lumMod val="50000"/>
                <a:alpha val="50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3" name="文本框 12"/>
          <p:cNvSpPr txBox="1"/>
          <p:nvPr/>
        </p:nvSpPr>
        <p:spPr>
          <a:xfrm>
            <a:off x="888085" y="214862"/>
            <a:ext cx="795988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Emerging Paradigms in ECI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2818" y="299692"/>
            <a:ext cx="487370" cy="610980"/>
          </a:xfrm>
          <a:prstGeom prst="rect">
            <a:avLst/>
          </a:prstGeom>
        </p:spPr>
      </p:pic>
      <p:cxnSp>
        <p:nvCxnSpPr>
          <p:cNvPr id="17" name="直接连接符 16"/>
          <p:cNvCxnSpPr/>
          <p:nvPr/>
        </p:nvCxnSpPr>
        <p:spPr>
          <a:xfrm flipV="1">
            <a:off x="1060221" y="6304583"/>
            <a:ext cx="10071557" cy="1"/>
          </a:xfrm>
          <a:prstGeom prst="line">
            <a:avLst/>
          </a:prstGeom>
          <a:ln w="12700">
            <a:solidFill>
              <a:schemeClr val="accent3">
                <a:lumMod val="50000"/>
                <a:alpha val="50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3" name="直接连接符 2"/>
          <p:cNvCxnSpPr/>
          <p:nvPr/>
        </p:nvCxnSpPr>
        <p:spPr>
          <a:xfrm>
            <a:off x="888086" y="214862"/>
            <a:ext cx="0" cy="695810"/>
          </a:xfrm>
          <a:prstGeom prst="line">
            <a:avLst/>
          </a:prstGeom>
          <a:ln w="12700">
            <a:solidFill>
              <a:schemeClr val="dk1">
                <a:alpha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760187" y="1337243"/>
            <a:ext cx="10371589" cy="438891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b="1" dirty="0"/>
              <a:t>基于</a:t>
            </a:r>
            <a:r>
              <a:rPr lang="en-US" altLang="zh-CN" b="1" dirty="0">
                <a:hlinkClick r:id="rId4"/>
              </a:rPr>
              <a:t>LLM</a:t>
            </a:r>
            <a:r>
              <a:rPr lang="zh-CN" altLang="en-US" b="1" dirty="0"/>
              <a:t>的</a:t>
            </a:r>
            <a:r>
              <a:rPr lang="en-US" altLang="zh-CN" b="1" dirty="0"/>
              <a:t>zero-shot/few-shot ECI</a:t>
            </a:r>
            <a:r>
              <a:rPr lang="zh-CN" altLang="en-US" b="1" dirty="0"/>
              <a:t>模型</a:t>
            </a:r>
            <a:r>
              <a:rPr lang="zh-CN" altLang="en-US" dirty="0"/>
              <a:t>。</a:t>
            </a:r>
            <a:r>
              <a:rPr lang="en-US" altLang="zh-CN" dirty="0"/>
              <a:t>2023</a:t>
            </a:r>
            <a:r>
              <a:rPr lang="zh-CN" altLang="en-US" dirty="0"/>
              <a:t>年</a:t>
            </a:r>
            <a:r>
              <a:rPr lang="en-US" altLang="zh-CN" dirty="0"/>
              <a:t>LLM</a:t>
            </a:r>
            <a:r>
              <a:rPr lang="zh-CN" altLang="en-US" dirty="0"/>
              <a:t>刚兴起，</a:t>
            </a:r>
            <a:r>
              <a:rPr lang="en-US" altLang="zh-CN" dirty="0"/>
              <a:t>Gao</a:t>
            </a:r>
            <a:r>
              <a:rPr lang="zh-CN" altLang="en-US" dirty="0"/>
              <a:t>等人即系统评测 </a:t>
            </a:r>
            <a:r>
              <a:rPr lang="en-US" altLang="zh-CN" dirty="0"/>
              <a:t>ChatGPT </a:t>
            </a:r>
            <a:r>
              <a:rPr lang="zh-CN" altLang="en-US" dirty="0"/>
              <a:t>系列在零样本</a:t>
            </a:r>
            <a:r>
              <a:rPr lang="en-US" altLang="zh-CN" dirty="0"/>
              <a:t>/</a:t>
            </a:r>
            <a:r>
              <a:rPr lang="zh-CN" altLang="en-US" dirty="0"/>
              <a:t>无监督</a:t>
            </a:r>
            <a:r>
              <a:rPr lang="en-US" altLang="zh-CN" dirty="0"/>
              <a:t>ECI</a:t>
            </a:r>
            <a:r>
              <a:rPr lang="zh-CN" altLang="en-US" dirty="0"/>
              <a:t>上的表现。实验表明，即便使用思维链或上下文学习提供示例，</a:t>
            </a:r>
            <a:r>
              <a:rPr lang="en-US" altLang="zh-CN" dirty="0"/>
              <a:t>LLM</a:t>
            </a:r>
            <a:r>
              <a:rPr lang="zh-CN" altLang="en-US" dirty="0"/>
              <a:t>仍易出现“因果幻觉”</a:t>
            </a:r>
            <a:r>
              <a:rPr lang="en-US" altLang="zh-CN" dirty="0"/>
              <a:t>——</a:t>
            </a:r>
            <a:r>
              <a:rPr lang="zh-CN" altLang="en-US" dirty="0"/>
              <a:t>过度归因导致大量假阳性；且结果对提示词极度敏感，性能波动大。为缓解幻觉，后续研究尝试两条路径：一是“知识增强 </a:t>
            </a:r>
            <a:r>
              <a:rPr lang="en-US" altLang="zh-CN" dirty="0"/>
              <a:t>LLM”</a:t>
            </a:r>
            <a:r>
              <a:rPr lang="zh-CN" altLang="en-US" dirty="0"/>
              <a:t>，通过因果知识图谱或外部约束对模型输出进行校正；二是“</a:t>
            </a:r>
            <a:r>
              <a:rPr lang="en-US" altLang="zh-CN" dirty="0"/>
              <a:t>LLM </a:t>
            </a:r>
            <a:r>
              <a:rPr lang="zh-CN" altLang="en-US" dirty="0"/>
              <a:t>仅作辅助”，负责摘要、示例生成或相似度计算，最终因果判断仍交由小规模专用模型完成，以降低幻觉风险。总体而言，</a:t>
            </a:r>
            <a:r>
              <a:rPr lang="en-US" altLang="zh-CN" dirty="0"/>
              <a:t>LLM</a:t>
            </a:r>
            <a:r>
              <a:rPr lang="zh-CN" altLang="en-US" dirty="0"/>
              <a:t>的零样本能力使</a:t>
            </a:r>
            <a:r>
              <a:rPr lang="en-US" altLang="zh-CN" dirty="0"/>
              <a:t>ECI</a:t>
            </a:r>
            <a:r>
              <a:rPr lang="zh-CN" altLang="en-US" dirty="0"/>
              <a:t>摆脱标注束缚，但“幻觉”与“自洽”仍是落地瓶颈，未来关键在于让大模型具备真正的因果链式思维，并能区分因果、相关与时序。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zh-CN" alt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b="1" dirty="0"/>
              <a:t>多语言</a:t>
            </a:r>
            <a:r>
              <a:rPr lang="en-US" altLang="zh-CN" b="1" dirty="0"/>
              <a:t>/</a:t>
            </a:r>
            <a:r>
              <a:rPr lang="zh-CN" altLang="en-US" b="1" dirty="0"/>
              <a:t>跨语言背景下的</a:t>
            </a:r>
            <a:r>
              <a:rPr lang="en-US" altLang="zh-CN" b="1" dirty="0"/>
              <a:t>ECI</a:t>
            </a:r>
            <a:r>
              <a:rPr lang="zh-CN" altLang="en-US" b="1" dirty="0"/>
              <a:t>模型</a:t>
            </a:r>
            <a:r>
              <a:rPr lang="zh-CN" altLang="en-US" dirty="0"/>
              <a:t>，目前英语 </a:t>
            </a:r>
            <a:r>
              <a:rPr lang="en-US" altLang="zh-CN" dirty="0"/>
              <a:t>ECI </a:t>
            </a:r>
            <a:r>
              <a:rPr lang="zh-CN" altLang="en-US" dirty="0"/>
              <a:t>的研究已相对成熟，其他语言则因语料稀缺、句法差异大而进展缓慢。早期做法是把文本直接翻译为英语后套用单语模型，但翻译误差会放大因果错漏。随着</a:t>
            </a:r>
            <a:r>
              <a:rPr lang="zh-CN" altLang="en-US" dirty="0">
                <a:hlinkClick r:id="rId5"/>
              </a:rPr>
              <a:t>多语种预训练模型</a:t>
            </a:r>
            <a:r>
              <a:rPr lang="zh-CN" altLang="en-US" dirty="0"/>
              <a:t>兴起，研究者转向“共享语义空间</a:t>
            </a:r>
            <a:r>
              <a:rPr lang="en-US" altLang="zh-CN" dirty="0"/>
              <a:t>+</a:t>
            </a:r>
            <a:r>
              <a:rPr lang="zh-CN" altLang="en-US" dirty="0"/>
              <a:t>图对齐”思路。目前的研究表明，小参数模型在语法差异大的语种间迁移仍困难，潜在可行的路径是“多语 </a:t>
            </a:r>
            <a:r>
              <a:rPr lang="en-US" altLang="zh-CN" dirty="0"/>
              <a:t>LLM+</a:t>
            </a:r>
            <a:r>
              <a:rPr lang="zh-CN" altLang="en-US" dirty="0"/>
              <a:t>语义对齐”</a:t>
            </a:r>
            <a:r>
              <a:rPr lang="en-US" altLang="zh-CN" dirty="0"/>
              <a:t>——</a:t>
            </a:r>
            <a:r>
              <a:rPr lang="zh-CN" altLang="en-US" dirty="0"/>
              <a:t>先在大规模多语语料上预训练，再用对比或提示方式对齐因果表示，从而一次训练即可覆盖低资源语言。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0ECF65-907A-42C7-8298-DAADFCC5AA34}" type="slidenum">
              <a:rPr lang="zh-CN" altLang="en-US" smtClean="0"/>
              <a:t>6</a:t>
            </a:fld>
            <a:endParaRPr lang="zh-CN" altLang="en-US"/>
          </a:p>
        </p:txBody>
      </p:sp>
      <p:cxnSp>
        <p:nvCxnSpPr>
          <p:cNvPr id="11" name="直接连接符 10"/>
          <p:cNvCxnSpPr/>
          <p:nvPr/>
        </p:nvCxnSpPr>
        <p:spPr>
          <a:xfrm flipV="1">
            <a:off x="888086" y="641433"/>
            <a:ext cx="10243692" cy="13555"/>
          </a:xfrm>
          <a:prstGeom prst="line">
            <a:avLst/>
          </a:prstGeom>
          <a:ln w="12700">
            <a:solidFill>
              <a:schemeClr val="accent3">
                <a:lumMod val="50000"/>
                <a:alpha val="50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3" name="文本框 12"/>
          <p:cNvSpPr txBox="1"/>
          <p:nvPr/>
        </p:nvSpPr>
        <p:spPr>
          <a:xfrm>
            <a:off x="936876" y="216323"/>
            <a:ext cx="795988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未来方向</a:t>
            </a:r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2818" y="299692"/>
            <a:ext cx="487370" cy="610980"/>
          </a:xfrm>
          <a:prstGeom prst="rect">
            <a:avLst/>
          </a:prstGeom>
        </p:spPr>
      </p:pic>
      <p:cxnSp>
        <p:nvCxnSpPr>
          <p:cNvPr id="17" name="直接连接符 16"/>
          <p:cNvCxnSpPr/>
          <p:nvPr/>
        </p:nvCxnSpPr>
        <p:spPr>
          <a:xfrm flipV="1">
            <a:off x="1060221" y="6304583"/>
            <a:ext cx="10071557" cy="1"/>
          </a:xfrm>
          <a:prstGeom prst="line">
            <a:avLst/>
          </a:prstGeom>
          <a:ln w="12700">
            <a:solidFill>
              <a:schemeClr val="accent3">
                <a:lumMod val="50000"/>
                <a:alpha val="50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3" name="直接连接符 2"/>
          <p:cNvCxnSpPr/>
          <p:nvPr/>
        </p:nvCxnSpPr>
        <p:spPr>
          <a:xfrm>
            <a:off x="888086" y="214862"/>
            <a:ext cx="0" cy="695810"/>
          </a:xfrm>
          <a:prstGeom prst="line">
            <a:avLst/>
          </a:prstGeom>
          <a:ln w="12700">
            <a:solidFill>
              <a:schemeClr val="dk1">
                <a:alpha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760188" y="1399540"/>
            <a:ext cx="10593612" cy="352805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zh-CN" altLang="en-US" dirty="0">
                <a:solidFill>
                  <a:srgbClr val="FF0000"/>
                </a:solidFill>
              </a:rPr>
              <a:t>因果方向识别</a:t>
            </a:r>
            <a:r>
              <a:rPr lang="zh-CN" altLang="en-US" dirty="0"/>
              <a:t>：从二分类→有向边，结合有向图与因果推断。</a:t>
            </a:r>
          </a:p>
          <a:p>
            <a:pPr marL="342900" indent="-342900">
              <a:buFont typeface="+mj-lt"/>
              <a:buAutoNum type="arabicPeriod"/>
            </a:pPr>
            <a:r>
              <a:rPr lang="zh-CN" altLang="en-US" dirty="0">
                <a:solidFill>
                  <a:srgbClr val="FF0000"/>
                </a:solidFill>
              </a:rPr>
              <a:t>事件因果链</a:t>
            </a:r>
            <a:r>
              <a:rPr lang="zh-CN" altLang="en-US" dirty="0"/>
              <a:t>：把离散边拼成可解释路径，引入反事实与结构因果模型（</a:t>
            </a:r>
            <a:r>
              <a:rPr lang="en-US" altLang="zh-CN" dirty="0">
                <a:solidFill>
                  <a:srgbClr val="FF0000"/>
                </a:solidFill>
              </a:rPr>
              <a:t>SCM</a:t>
            </a:r>
            <a:r>
              <a:rPr lang="zh-CN" altLang="en-US" dirty="0"/>
              <a:t>）。</a:t>
            </a:r>
          </a:p>
          <a:p>
            <a:pPr marL="342900" indent="-342900">
              <a:buFont typeface="+mj-lt"/>
              <a:buAutoNum type="arabicPeriod"/>
            </a:pPr>
            <a:r>
              <a:rPr lang="zh-CN" altLang="en-US" dirty="0"/>
              <a:t>不确定因果：给每条边加置信度，构建概率或模糊标签数据集。</a:t>
            </a:r>
          </a:p>
          <a:p>
            <a:pPr marL="342900" indent="-342900">
              <a:buFont typeface="+mj-lt"/>
              <a:buAutoNum type="arabicPeriod"/>
            </a:pPr>
            <a:r>
              <a:rPr lang="zh-CN" altLang="en-US" dirty="0"/>
              <a:t>事件</a:t>
            </a:r>
            <a:r>
              <a:rPr lang="en-US" altLang="zh-CN" dirty="0"/>
              <a:t>-</a:t>
            </a:r>
            <a:r>
              <a:rPr lang="zh-CN" altLang="en-US" dirty="0"/>
              <a:t>因果联合抽取：</a:t>
            </a:r>
            <a:r>
              <a:rPr lang="en-US" altLang="zh-CN" dirty="0"/>
              <a:t>EE</a:t>
            </a:r>
            <a:r>
              <a:rPr lang="zh-CN" altLang="en-US" dirty="0"/>
              <a:t>（事件抽取）</a:t>
            </a:r>
            <a:r>
              <a:rPr lang="en-US" altLang="zh-CN" dirty="0"/>
              <a:t>+ECI</a:t>
            </a:r>
            <a:r>
              <a:rPr lang="zh-CN" altLang="en-US" dirty="0"/>
              <a:t>端到端，避免误差级联。</a:t>
            </a:r>
          </a:p>
          <a:p>
            <a:pPr marL="342900" indent="-342900">
              <a:buFont typeface="+mj-lt"/>
              <a:buAutoNum type="arabicPeriod"/>
            </a:pPr>
            <a:r>
              <a:rPr lang="zh-CN" altLang="en-US" dirty="0"/>
              <a:t>多模态因果：图文音视一起算，需跨模态实体对齐与统一表示。</a:t>
            </a:r>
          </a:p>
          <a:p>
            <a:pPr marL="342900" indent="-342900">
              <a:buFont typeface="+mj-lt"/>
              <a:buAutoNum type="arabicPeriod"/>
            </a:pPr>
            <a:r>
              <a:rPr lang="zh-CN" altLang="en-US" dirty="0"/>
              <a:t>可解释</a:t>
            </a:r>
            <a:r>
              <a:rPr lang="en-US" altLang="zh-CN" dirty="0"/>
              <a:t>ECI</a:t>
            </a:r>
            <a:r>
              <a:rPr lang="zh-CN" altLang="en-US" dirty="0"/>
              <a:t>：告别黑盒，输出“证据链</a:t>
            </a:r>
            <a:r>
              <a:rPr lang="en-US" altLang="zh-CN" dirty="0"/>
              <a:t>+</a:t>
            </a:r>
            <a:r>
              <a:rPr lang="zh-CN" altLang="en-US" dirty="0"/>
              <a:t>推理路径”。</a:t>
            </a:r>
          </a:p>
          <a:p>
            <a:pPr marL="342900" indent="-342900">
              <a:buFont typeface="+mj-lt"/>
              <a:buAutoNum type="arabicPeriod"/>
            </a:pPr>
            <a:r>
              <a:rPr lang="zh-CN" altLang="en-US" dirty="0"/>
              <a:t>少</a:t>
            </a:r>
            <a:r>
              <a:rPr lang="en-US" altLang="zh-CN" dirty="0"/>
              <a:t>/</a:t>
            </a:r>
            <a:r>
              <a:rPr lang="zh-CN" altLang="en-US" dirty="0"/>
              <a:t>零样本</a:t>
            </a:r>
            <a:r>
              <a:rPr lang="en-US" altLang="zh-CN" dirty="0"/>
              <a:t>Few-shot and Zero-shot ECI</a:t>
            </a:r>
            <a:r>
              <a:rPr lang="zh-CN" altLang="en-US" dirty="0"/>
              <a:t>：用</a:t>
            </a:r>
            <a:r>
              <a:rPr lang="en-US" altLang="zh-CN" dirty="0"/>
              <a:t>LLM</a:t>
            </a:r>
            <a:r>
              <a:rPr lang="zh-CN" altLang="en-US" dirty="0"/>
              <a:t>合成高质量因果句，或把文本转语义图约束输出。</a:t>
            </a:r>
          </a:p>
          <a:p>
            <a:pPr marL="342900" indent="-342900">
              <a:buFont typeface="+mj-lt"/>
              <a:buAutoNum type="arabicPeriod"/>
            </a:pPr>
            <a:r>
              <a:rPr lang="zh-CN" altLang="en-US" dirty="0"/>
              <a:t>认知</a:t>
            </a:r>
            <a:r>
              <a:rPr lang="en-US" altLang="zh-CN" dirty="0"/>
              <a:t>&amp;</a:t>
            </a:r>
            <a:r>
              <a:rPr lang="zh-CN" altLang="en-US" dirty="0"/>
              <a:t>心理：引入人类因果偏差与事件感知理论，让模型更“像人”。</a:t>
            </a:r>
          </a:p>
          <a:p>
            <a:pPr marL="342900" indent="-342900">
              <a:buFont typeface="+mj-lt"/>
              <a:buAutoNum type="arabicPeriod"/>
            </a:pPr>
            <a:r>
              <a:rPr lang="zh-CN" altLang="en-US" dirty="0"/>
              <a:t>多关系联合：同时抽取时序、共指、上下位，共享表示降过拟合。</a:t>
            </a:r>
          </a:p>
          <a:p>
            <a:pPr marL="342900" indent="-342900">
              <a:buFont typeface="+mj-lt"/>
              <a:buAutoNum type="arabicPeriod"/>
            </a:pPr>
            <a:r>
              <a:rPr lang="zh-CN" altLang="en-US" dirty="0"/>
              <a:t>标注标准化：制定“因果</a:t>
            </a:r>
            <a:r>
              <a:rPr lang="en-US" altLang="zh-CN" dirty="0"/>
              <a:t>BIO”</a:t>
            </a:r>
            <a:r>
              <a:rPr lang="zh-CN" altLang="en-US" dirty="0"/>
              <a:t>规范</a:t>
            </a:r>
            <a:r>
              <a:rPr lang="en-US" altLang="zh-CN" dirty="0"/>
              <a:t>+LLM</a:t>
            </a:r>
            <a:r>
              <a:rPr lang="zh-CN" altLang="en-US" dirty="0"/>
              <a:t>预标注</a:t>
            </a:r>
            <a:r>
              <a:rPr lang="en-US" altLang="zh-CN" dirty="0"/>
              <a:t>+</a:t>
            </a:r>
            <a:r>
              <a:rPr lang="zh-CN" altLang="en-US" dirty="0"/>
              <a:t>人工校验，终结数据孤岛。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070548" y="2026487"/>
            <a:ext cx="10134862" cy="1402513"/>
          </a:xfrm>
        </p:spPr>
        <p:txBody>
          <a:bodyPr>
            <a:normAutofit fontScale="90000"/>
          </a:bodyPr>
          <a:lstStyle/>
          <a:p>
            <a:r>
              <a:rPr lang="en-US" altLang="zh-CN" sz="4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Digging Into the Internal: </a:t>
            </a:r>
            <a:br>
              <a:rPr lang="en-US" altLang="zh-CN" sz="4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sz="4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Causality-Based Analysis of LLM Function Calling</a:t>
            </a: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0ECF65-907A-42C7-8298-DAADFCC5AA34}" type="slidenum">
              <a:rPr lang="zh-CN" altLang="en-US" smtClean="0"/>
              <a:t>7</a:t>
            </a:fld>
            <a:endParaRPr lang="zh-CN" altLang="en-US" dirty="0"/>
          </a:p>
        </p:txBody>
      </p:sp>
      <p:sp>
        <p:nvSpPr>
          <p:cNvPr id="3" name="文本框 2"/>
          <p:cNvSpPr txBox="1"/>
          <p:nvPr/>
        </p:nvSpPr>
        <p:spPr>
          <a:xfrm>
            <a:off x="3337286" y="3841847"/>
            <a:ext cx="5517427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/>
              <a:t>preprint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0ECF65-907A-42C7-8298-DAADFCC5AA34}" type="slidenum">
              <a:rPr lang="zh-CN" altLang="en-US" smtClean="0"/>
              <a:t>8</a:t>
            </a:fld>
            <a:endParaRPr lang="zh-CN" altLang="en-US"/>
          </a:p>
        </p:txBody>
      </p:sp>
      <p:cxnSp>
        <p:nvCxnSpPr>
          <p:cNvPr id="11" name="直接连接符 10"/>
          <p:cNvCxnSpPr/>
          <p:nvPr/>
        </p:nvCxnSpPr>
        <p:spPr>
          <a:xfrm flipV="1">
            <a:off x="888086" y="641433"/>
            <a:ext cx="10243692" cy="13555"/>
          </a:xfrm>
          <a:prstGeom prst="line">
            <a:avLst/>
          </a:prstGeom>
          <a:ln w="12700">
            <a:solidFill>
              <a:schemeClr val="accent3">
                <a:lumMod val="50000"/>
                <a:alpha val="50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3" name="文本框 12"/>
          <p:cNvSpPr txBox="1"/>
          <p:nvPr/>
        </p:nvSpPr>
        <p:spPr>
          <a:xfrm>
            <a:off x="936876" y="216323"/>
            <a:ext cx="795988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背景</a:t>
            </a:r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2818" y="299692"/>
            <a:ext cx="487370" cy="610980"/>
          </a:xfrm>
          <a:prstGeom prst="rect">
            <a:avLst/>
          </a:prstGeom>
        </p:spPr>
      </p:pic>
      <p:cxnSp>
        <p:nvCxnSpPr>
          <p:cNvPr id="17" name="直接连接符 16"/>
          <p:cNvCxnSpPr/>
          <p:nvPr/>
        </p:nvCxnSpPr>
        <p:spPr>
          <a:xfrm flipV="1">
            <a:off x="1281836" y="6330618"/>
            <a:ext cx="10071557" cy="1"/>
          </a:xfrm>
          <a:prstGeom prst="line">
            <a:avLst/>
          </a:prstGeom>
          <a:ln w="12700">
            <a:solidFill>
              <a:schemeClr val="accent3">
                <a:lumMod val="50000"/>
                <a:alpha val="50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3" name="直接连接符 2"/>
          <p:cNvCxnSpPr/>
          <p:nvPr/>
        </p:nvCxnSpPr>
        <p:spPr>
          <a:xfrm>
            <a:off x="888086" y="214862"/>
            <a:ext cx="0" cy="695810"/>
          </a:xfrm>
          <a:prstGeom prst="line">
            <a:avLst/>
          </a:prstGeom>
          <a:ln w="12700">
            <a:solidFill>
              <a:schemeClr val="dk1">
                <a:alpha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1060220" y="1399241"/>
            <a:ext cx="10071557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zh-CN" altLang="en-US" sz="2800" dirty="0"/>
              <a:t>函数调用（</a:t>
            </a:r>
            <a:r>
              <a:rPr lang="en-US" altLang="zh-CN" sz="2800" dirty="0"/>
              <a:t>Function Calling</a:t>
            </a:r>
            <a:r>
              <a:rPr lang="zh-CN" altLang="en-US" sz="2800" dirty="0"/>
              <a:t>，</a:t>
            </a:r>
            <a:r>
              <a:rPr lang="en-US" altLang="zh-CN" sz="2800" dirty="0"/>
              <a:t>FC</a:t>
            </a:r>
            <a:r>
              <a:rPr lang="zh-CN" altLang="en-US" sz="2800" dirty="0"/>
              <a:t>）已成为 </a:t>
            </a:r>
            <a:r>
              <a:rPr lang="en-US" altLang="zh-CN" sz="2800" dirty="0"/>
              <a:t>LLM </a:t>
            </a:r>
            <a:r>
              <a:rPr lang="zh-CN" altLang="en-US" sz="2800" dirty="0"/>
              <a:t>与外部系统交互的主流原生能力，</a:t>
            </a:r>
            <a:r>
              <a:rPr lang="en-US" altLang="zh-CN" sz="2800" dirty="0"/>
              <a:t>GPT</a:t>
            </a:r>
            <a:r>
              <a:rPr lang="zh-CN" altLang="en-US" sz="2800" dirty="0"/>
              <a:t>、</a:t>
            </a:r>
            <a:r>
              <a:rPr lang="en-US" altLang="zh-CN" sz="2800" dirty="0"/>
              <a:t>Llama</a:t>
            </a:r>
            <a:r>
              <a:rPr lang="zh-CN" altLang="en-US" sz="2800" dirty="0"/>
              <a:t>、</a:t>
            </a:r>
            <a:r>
              <a:rPr lang="en-US" altLang="zh-CN" sz="2800" dirty="0"/>
              <a:t>Mistral </a:t>
            </a:r>
            <a:r>
              <a:rPr lang="zh-CN" altLang="en-US" sz="2800" dirty="0"/>
              <a:t>等均已内置。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altLang="zh-CN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zh-CN" altLang="en-US" sz="2800" dirty="0"/>
              <a:t>相比传统 </a:t>
            </a:r>
            <a:r>
              <a:rPr lang="en-US" altLang="zh-CN" sz="2800" dirty="0"/>
              <a:t>prompt </a:t>
            </a:r>
            <a:r>
              <a:rPr lang="zh-CN" altLang="en-US" sz="2800" dirty="0"/>
              <a:t>技巧，</a:t>
            </a:r>
            <a:r>
              <a:rPr lang="en-US" altLang="zh-CN" sz="2800" dirty="0"/>
              <a:t>FC </a:t>
            </a:r>
            <a:r>
              <a:rPr lang="zh-CN" altLang="en-US" sz="2800" dirty="0"/>
              <a:t>能把“工具描述”硬化为结构化 </a:t>
            </a:r>
            <a:r>
              <a:rPr lang="en-US" altLang="zh-CN" sz="2800" dirty="0"/>
              <a:t>schema</a:t>
            </a:r>
            <a:r>
              <a:rPr lang="zh-CN" altLang="en-US" sz="2800" dirty="0"/>
              <a:t>，使模型输出可解析的 </a:t>
            </a:r>
            <a:r>
              <a:rPr lang="en-US" altLang="zh-CN" sz="2800" dirty="0"/>
              <a:t>JSON </a:t>
            </a:r>
            <a:r>
              <a:rPr lang="zh-CN" altLang="en-US" sz="2800" dirty="0"/>
              <a:t>调用，显著降低幻觉并提升任务自动化水平。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0ECF65-907A-42C7-8298-DAADFCC5AA34}" type="slidenum">
              <a:rPr lang="zh-CN" altLang="en-US" smtClean="0"/>
              <a:t>9</a:t>
            </a:fld>
            <a:endParaRPr lang="zh-CN" altLang="en-US"/>
          </a:p>
        </p:txBody>
      </p:sp>
      <p:cxnSp>
        <p:nvCxnSpPr>
          <p:cNvPr id="11" name="直接连接符 10"/>
          <p:cNvCxnSpPr/>
          <p:nvPr/>
        </p:nvCxnSpPr>
        <p:spPr>
          <a:xfrm flipV="1">
            <a:off x="888086" y="641433"/>
            <a:ext cx="10243692" cy="13555"/>
          </a:xfrm>
          <a:prstGeom prst="line">
            <a:avLst/>
          </a:prstGeom>
          <a:ln w="12700">
            <a:solidFill>
              <a:schemeClr val="accent3">
                <a:lumMod val="50000"/>
                <a:alpha val="50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3" name="文本框 12"/>
          <p:cNvSpPr txBox="1"/>
          <p:nvPr/>
        </p:nvSpPr>
        <p:spPr>
          <a:xfrm>
            <a:off x="888086" y="194613"/>
            <a:ext cx="795988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问题与动机</a:t>
            </a:r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2818" y="299692"/>
            <a:ext cx="487370" cy="610980"/>
          </a:xfrm>
          <a:prstGeom prst="rect">
            <a:avLst/>
          </a:prstGeom>
        </p:spPr>
      </p:pic>
      <p:cxnSp>
        <p:nvCxnSpPr>
          <p:cNvPr id="17" name="直接连接符 16"/>
          <p:cNvCxnSpPr/>
          <p:nvPr/>
        </p:nvCxnSpPr>
        <p:spPr>
          <a:xfrm flipV="1">
            <a:off x="1060221" y="6304583"/>
            <a:ext cx="10071557" cy="1"/>
          </a:xfrm>
          <a:prstGeom prst="line">
            <a:avLst/>
          </a:prstGeom>
          <a:ln w="12700">
            <a:solidFill>
              <a:schemeClr val="accent3">
                <a:lumMod val="50000"/>
                <a:alpha val="50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3" name="直接连接符 2"/>
          <p:cNvCxnSpPr/>
          <p:nvPr/>
        </p:nvCxnSpPr>
        <p:spPr>
          <a:xfrm>
            <a:off x="888086" y="214862"/>
            <a:ext cx="0" cy="695810"/>
          </a:xfrm>
          <a:prstGeom prst="line">
            <a:avLst/>
          </a:prstGeom>
          <a:ln w="12700">
            <a:solidFill>
              <a:schemeClr val="dk1">
                <a:alpha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888086" y="1160779"/>
            <a:ext cx="10243692" cy="484208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zh-CN" altLang="en-US" sz="2800" dirty="0"/>
              <a:t>现有研究集中在“如何让模型调得准”，却几乎无人回答“</a:t>
            </a:r>
            <a:r>
              <a:rPr lang="en-US" altLang="zh-CN" sz="2800" dirty="0"/>
              <a:t>FC </a:t>
            </a:r>
            <a:r>
              <a:rPr lang="zh-CN" altLang="en-US" sz="2800" dirty="0"/>
              <a:t>究竟如何改变模型内部决策逻辑”。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zh-CN" altLang="en-US" sz="2800" dirty="0"/>
              <a:t>经验观察：</a:t>
            </a:r>
            <a:r>
              <a:rPr lang="en-US" altLang="zh-CN" sz="2800" dirty="0"/>
              <a:t>FC </a:t>
            </a:r>
            <a:r>
              <a:rPr lang="zh-CN" altLang="en-US" sz="2800" dirty="0"/>
              <a:t>不仅完成工具调用，还意外大幅提升模型对系统指令的服从度（如恶意输入拒识）。这一外溢效应缺乏机理解释，也无法指导后续优化。</a:t>
            </a:r>
            <a:endParaRPr lang="en-US" altLang="zh-CN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zh-CN" altLang="en-US" sz="2800" dirty="0"/>
              <a:t>若仅停留在“输入</a:t>
            </a:r>
            <a:r>
              <a:rPr lang="en-US" altLang="zh-CN" sz="2800" dirty="0"/>
              <a:t>-</a:t>
            </a:r>
            <a:r>
              <a:rPr lang="zh-CN" altLang="en-US" sz="2800" dirty="0"/>
              <a:t>输出”黑盒对比，无法区分“相关”与“因果”，可能把混淆因子误认为 </a:t>
            </a:r>
            <a:r>
              <a:rPr lang="en-US" altLang="zh-CN" sz="2800" dirty="0"/>
              <a:t>FC </a:t>
            </a:r>
            <a:r>
              <a:rPr lang="zh-CN" altLang="en-US" sz="2800" dirty="0"/>
              <a:t>的功效。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zh-CN" altLang="en-US" sz="2800" dirty="0"/>
              <a:t>借助因果干预（</a:t>
            </a:r>
            <a:r>
              <a:rPr lang="en-US" altLang="zh-CN" sz="2800" dirty="0"/>
              <a:t>do-calculus</a:t>
            </a:r>
            <a:r>
              <a:rPr lang="zh-CN" altLang="en-US" sz="2800" dirty="0"/>
              <a:t>）可直接对模型内部层</a:t>
            </a:r>
            <a:r>
              <a:rPr lang="en-US" altLang="zh-CN" sz="2800" dirty="0"/>
              <a:t>/</a:t>
            </a:r>
            <a:r>
              <a:rPr lang="zh-CN" altLang="en-US" sz="2800" dirty="0"/>
              <a:t>令牌进行“手术式”扰动，量化 </a:t>
            </a:r>
            <a:r>
              <a:rPr lang="en-US" altLang="zh-CN" sz="2800" dirty="0"/>
              <a:t>FC </a:t>
            </a:r>
            <a:r>
              <a:rPr lang="zh-CN" altLang="en-US" sz="2800" dirty="0"/>
              <a:t>对信息流路径的净效应，从而为“用 </a:t>
            </a:r>
            <a:r>
              <a:rPr lang="en-US" altLang="zh-CN" sz="2800" dirty="0"/>
              <a:t>FC </a:t>
            </a:r>
            <a:r>
              <a:rPr lang="zh-CN" altLang="en-US" sz="2800" dirty="0"/>
              <a:t>做安全加固”提供理论支撑。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zh-CN" altLang="en-US" sz="2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0ECF65-907A-42C7-8298-DAADFCC5AA34}" type="slidenum">
              <a:rPr lang="zh-CN" altLang="en-US" smtClean="0"/>
              <a:t>10</a:t>
            </a:fld>
            <a:endParaRPr lang="zh-CN" altLang="en-US"/>
          </a:p>
        </p:txBody>
      </p:sp>
      <p:cxnSp>
        <p:nvCxnSpPr>
          <p:cNvPr id="11" name="直接连接符 10"/>
          <p:cNvCxnSpPr/>
          <p:nvPr/>
        </p:nvCxnSpPr>
        <p:spPr>
          <a:xfrm flipV="1">
            <a:off x="888086" y="641433"/>
            <a:ext cx="10243692" cy="13555"/>
          </a:xfrm>
          <a:prstGeom prst="line">
            <a:avLst/>
          </a:prstGeom>
          <a:ln w="12700">
            <a:solidFill>
              <a:schemeClr val="accent3">
                <a:lumMod val="50000"/>
                <a:alpha val="50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3" name="文本框 12"/>
          <p:cNvSpPr txBox="1"/>
          <p:nvPr/>
        </p:nvSpPr>
        <p:spPr>
          <a:xfrm>
            <a:off x="936876" y="216323"/>
            <a:ext cx="795988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思路与实现</a:t>
            </a:r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2818" y="299692"/>
            <a:ext cx="487370" cy="610980"/>
          </a:xfrm>
          <a:prstGeom prst="rect">
            <a:avLst/>
          </a:prstGeom>
        </p:spPr>
      </p:pic>
      <p:cxnSp>
        <p:nvCxnSpPr>
          <p:cNvPr id="17" name="直接连接符 16"/>
          <p:cNvCxnSpPr/>
          <p:nvPr/>
        </p:nvCxnSpPr>
        <p:spPr>
          <a:xfrm flipV="1">
            <a:off x="1060221" y="6304583"/>
            <a:ext cx="10071557" cy="1"/>
          </a:xfrm>
          <a:prstGeom prst="line">
            <a:avLst/>
          </a:prstGeom>
          <a:ln w="12700">
            <a:solidFill>
              <a:schemeClr val="accent3">
                <a:lumMod val="50000"/>
                <a:alpha val="50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3" name="直接连接符 2"/>
          <p:cNvCxnSpPr/>
          <p:nvPr/>
        </p:nvCxnSpPr>
        <p:spPr>
          <a:xfrm>
            <a:off x="888086" y="214862"/>
            <a:ext cx="0" cy="695810"/>
          </a:xfrm>
          <a:prstGeom prst="line">
            <a:avLst/>
          </a:prstGeom>
          <a:ln w="12700">
            <a:solidFill>
              <a:schemeClr val="dk1">
                <a:alpha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1060221" y="1239338"/>
            <a:ext cx="9167280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阶段 </a:t>
            </a:r>
            <a:r>
              <a:rPr lang="en-US" altLang="zh-CN" dirty="0"/>
              <a:t>1</a:t>
            </a:r>
            <a:r>
              <a:rPr lang="zh-CN" altLang="en-US" dirty="0"/>
              <a:t>：因果探针</a:t>
            </a:r>
          </a:p>
          <a:p>
            <a:pPr marL="342900" indent="-342900">
              <a:buFont typeface="+mj-lt"/>
              <a:buAutoNum type="arabicPeriod"/>
            </a:pPr>
            <a:r>
              <a:rPr lang="zh-CN" altLang="en-US" dirty="0">
                <a:solidFill>
                  <a:srgbClr val="FF0000"/>
                </a:solidFill>
              </a:rPr>
              <a:t>把 </a:t>
            </a:r>
            <a:r>
              <a:rPr lang="en-US" altLang="zh-CN" dirty="0">
                <a:solidFill>
                  <a:srgbClr val="FF0000"/>
                </a:solidFill>
              </a:rPr>
              <a:t>LLM </a:t>
            </a:r>
            <a:r>
              <a:rPr lang="zh-CN" altLang="en-US" dirty="0">
                <a:solidFill>
                  <a:srgbClr val="FF0000"/>
                </a:solidFill>
              </a:rPr>
              <a:t>等价于</a:t>
            </a:r>
            <a:r>
              <a:rPr lang="zh-CN" altLang="en-US" b="1" dirty="0">
                <a:solidFill>
                  <a:srgbClr val="FF0000"/>
                </a:solidFill>
              </a:rPr>
              <a:t>结构因果模型（</a:t>
            </a:r>
            <a:r>
              <a:rPr lang="en-US" altLang="zh-CN" b="1" dirty="0">
                <a:solidFill>
                  <a:srgbClr val="FF0000"/>
                </a:solidFill>
              </a:rPr>
              <a:t>SCM</a:t>
            </a:r>
            <a:r>
              <a:rPr lang="zh-CN" altLang="en-US" b="1" dirty="0">
                <a:solidFill>
                  <a:srgbClr val="FF0000"/>
                </a:solidFill>
              </a:rPr>
              <a:t>）</a:t>
            </a:r>
            <a:r>
              <a:rPr lang="zh-CN" altLang="en-US" dirty="0"/>
              <a:t>：每层隐藏态</a:t>
            </a:r>
            <a:r>
              <a:rPr lang="en-US" altLang="zh-CN" dirty="0"/>
              <a:t>/</a:t>
            </a:r>
            <a:r>
              <a:rPr lang="zh-CN" altLang="en-US" dirty="0"/>
              <a:t>每个</a:t>
            </a:r>
            <a:r>
              <a:rPr lang="en-US" altLang="zh-CN" dirty="0"/>
              <a:t>token</a:t>
            </a:r>
            <a:r>
              <a:rPr lang="zh-CN" altLang="en-US" dirty="0"/>
              <a:t>视为变量，前向计算视为结构方程。</a:t>
            </a:r>
          </a:p>
          <a:p>
            <a:pPr marL="342900" indent="-342900">
              <a:buFont typeface="+mj-lt"/>
              <a:buAutoNum type="arabicPeriod"/>
            </a:pPr>
            <a:r>
              <a:rPr lang="en-US" altLang="zh-CN" dirty="0"/>
              <a:t>layer</a:t>
            </a:r>
            <a:r>
              <a:rPr lang="zh-CN" altLang="en-US" dirty="0"/>
              <a:t>干预：对第 </a:t>
            </a:r>
            <a:r>
              <a:rPr lang="en-US" altLang="zh-CN" dirty="0"/>
              <a:t>l </a:t>
            </a:r>
            <a:r>
              <a:rPr lang="zh-CN" altLang="en-US" dirty="0"/>
              <a:t>层输出施加“跳过”或“零化”，度量输出 </a:t>
            </a:r>
            <a:r>
              <a:rPr lang="en-US" altLang="zh-CN" dirty="0"/>
              <a:t>logits </a:t>
            </a:r>
            <a:r>
              <a:rPr lang="zh-CN" altLang="en-US" dirty="0"/>
              <a:t>的 </a:t>
            </a:r>
            <a:r>
              <a:rPr lang="en-US" altLang="zh-CN" dirty="0"/>
              <a:t>L₂ </a:t>
            </a:r>
            <a:r>
              <a:rPr lang="zh-CN" altLang="en-US" dirty="0"/>
              <a:t>变化 → 得层 </a:t>
            </a:r>
            <a:r>
              <a:rPr lang="en-US" altLang="zh-CN" dirty="0"/>
              <a:t>ACE</a:t>
            </a:r>
            <a:r>
              <a:rPr lang="zh-CN" altLang="en-US" dirty="0"/>
              <a:t>。</a:t>
            </a:r>
          </a:p>
          <a:p>
            <a:pPr marL="342900" indent="-342900">
              <a:buFont typeface="+mj-lt"/>
              <a:buAutoNum type="arabicPeriod"/>
            </a:pPr>
            <a:r>
              <a:rPr lang="en-US" altLang="zh-CN" dirty="0"/>
              <a:t>token</a:t>
            </a:r>
            <a:r>
              <a:rPr lang="zh-CN" altLang="en-US" dirty="0"/>
              <a:t>干预：将输入子句（</a:t>
            </a:r>
            <a:r>
              <a:rPr lang="en-US" altLang="zh-CN" dirty="0"/>
              <a:t>clause</a:t>
            </a:r>
            <a:r>
              <a:rPr lang="zh-CN" altLang="en-US" dirty="0"/>
              <a:t>）整体替换为无意义符号，重复 </a:t>
            </a:r>
            <a:r>
              <a:rPr lang="en-US" altLang="zh-CN" dirty="0"/>
              <a:t>5 </a:t>
            </a:r>
            <a:r>
              <a:rPr lang="zh-CN" altLang="en-US" dirty="0"/>
              <a:t>次采样，计算该 </a:t>
            </a:r>
            <a:r>
              <a:rPr lang="en-US" altLang="zh-CN" dirty="0"/>
              <a:t>clause </a:t>
            </a:r>
            <a:r>
              <a:rPr lang="zh-CN" altLang="en-US" dirty="0"/>
              <a:t>的 </a:t>
            </a:r>
            <a:r>
              <a:rPr lang="en-US" altLang="zh-CN" dirty="0"/>
              <a:t>ACE</a:t>
            </a:r>
            <a:r>
              <a:rPr lang="zh-CN" altLang="en-US" dirty="0"/>
              <a:t>。</a:t>
            </a:r>
          </a:p>
          <a:p>
            <a:r>
              <a:rPr lang="zh-CN" altLang="en-US" dirty="0"/>
              <a:t>阶段 </a:t>
            </a:r>
            <a:r>
              <a:rPr lang="en-US" altLang="zh-CN" dirty="0"/>
              <a:t>2</a:t>
            </a:r>
            <a:r>
              <a:rPr lang="zh-CN" altLang="en-US" dirty="0"/>
              <a:t>：内部逻辑对比</a:t>
            </a:r>
          </a:p>
          <a:p>
            <a:pPr marL="342900" indent="-342900">
              <a:buFont typeface="+mj-lt"/>
              <a:buAutoNum type="arabicPeriod"/>
            </a:pPr>
            <a:r>
              <a:rPr lang="zh-CN" altLang="en-US" dirty="0"/>
              <a:t>对比“同模型同温度”下 </a:t>
            </a:r>
            <a:r>
              <a:rPr lang="en-US" altLang="zh-CN" dirty="0"/>
              <a:t>FC </a:t>
            </a:r>
            <a:r>
              <a:rPr lang="zh-CN" altLang="en-US" dirty="0"/>
              <a:t>开启</a:t>
            </a:r>
            <a:r>
              <a:rPr lang="en-US" altLang="zh-CN" dirty="0"/>
              <a:t>/</a:t>
            </a:r>
            <a:r>
              <a:rPr lang="zh-CN" altLang="en-US" dirty="0"/>
              <a:t>关闭的 </a:t>
            </a:r>
            <a:r>
              <a:rPr lang="en-US" altLang="zh-CN" dirty="0"/>
              <a:t>ACE </a:t>
            </a:r>
            <a:r>
              <a:rPr lang="zh-CN" altLang="en-US" dirty="0"/>
              <a:t>分布：</a:t>
            </a:r>
            <a:endParaRPr lang="en-US" altLang="zh-CN" dirty="0"/>
          </a:p>
          <a:p>
            <a:pPr marL="800100" lvl="1" indent="-342900">
              <a:buFont typeface="+mj-lt"/>
              <a:buAutoNum type="arabicPeriod"/>
            </a:pPr>
            <a:r>
              <a:rPr lang="zh-CN" altLang="en-US" dirty="0"/>
              <a:t>发现 </a:t>
            </a:r>
            <a:r>
              <a:rPr lang="en-US" altLang="zh-CN" dirty="0"/>
              <a:t>FC </a:t>
            </a:r>
            <a:r>
              <a:rPr lang="zh-CN" altLang="en-US" dirty="0"/>
              <a:t>使中层（</a:t>
            </a:r>
            <a:r>
              <a:rPr lang="en-US" altLang="zh-CN" dirty="0"/>
              <a:t>14-17 </a:t>
            </a:r>
            <a:r>
              <a:rPr lang="zh-CN" altLang="en-US" dirty="0"/>
              <a:t>层）</a:t>
            </a:r>
            <a:r>
              <a:rPr lang="en-US" altLang="zh-CN" dirty="0"/>
              <a:t>ACE </a:t>
            </a:r>
            <a:r>
              <a:rPr lang="zh-CN" altLang="en-US" dirty="0"/>
              <a:t>显著抬升，且层间 </a:t>
            </a:r>
            <a:r>
              <a:rPr lang="en-US" altLang="zh-CN" dirty="0"/>
              <a:t>ACE </a:t>
            </a:r>
            <a:r>
              <a:rPr lang="zh-CN" altLang="en-US" dirty="0"/>
              <a:t>方差（</a:t>
            </a:r>
            <a:r>
              <a:rPr lang="en-US" altLang="zh-CN" dirty="0"/>
              <a:t>SDC</a:t>
            </a:r>
            <a:r>
              <a:rPr lang="zh-CN" altLang="en-US" dirty="0"/>
              <a:t>）降低 → 决策边界被“硬化”。 </a:t>
            </a:r>
            <a:endParaRPr lang="en-US" altLang="zh-CN" dirty="0"/>
          </a:p>
          <a:p>
            <a:pPr marL="800100" lvl="1" indent="-342900">
              <a:buFont typeface="+mj-lt"/>
              <a:buAutoNum type="arabicPeriod"/>
            </a:pPr>
            <a:r>
              <a:rPr lang="zh-CN" altLang="en-US" dirty="0"/>
              <a:t>发现 </a:t>
            </a:r>
            <a:r>
              <a:rPr lang="en-US" altLang="zh-CN" dirty="0"/>
              <a:t>FC </a:t>
            </a:r>
            <a:r>
              <a:rPr lang="zh-CN" altLang="en-US" dirty="0"/>
              <a:t>下 </a:t>
            </a:r>
            <a:r>
              <a:rPr lang="en-US" altLang="zh-CN" dirty="0"/>
              <a:t>clause-ACE </a:t>
            </a:r>
            <a:r>
              <a:rPr lang="zh-CN" altLang="en-US" dirty="0"/>
              <a:t>与恶意核心意图的语义相似度相关性提高 </a:t>
            </a:r>
            <a:r>
              <a:rPr lang="en-US" altLang="zh-CN" dirty="0"/>
              <a:t>8-12%</a:t>
            </a:r>
            <a:r>
              <a:rPr lang="zh-CN" altLang="en-US" dirty="0"/>
              <a:t>，说明注意力更聚焦。</a:t>
            </a:r>
          </a:p>
          <a:p>
            <a:r>
              <a:rPr lang="zh-CN" altLang="en-US" dirty="0"/>
              <a:t>阶段 </a:t>
            </a:r>
            <a:r>
              <a:rPr lang="en-US" altLang="zh-CN" dirty="0"/>
              <a:t>3</a:t>
            </a:r>
            <a:r>
              <a:rPr lang="zh-CN" altLang="en-US" dirty="0"/>
              <a:t>：下游验证</a:t>
            </a:r>
            <a:r>
              <a:rPr lang="en-US" altLang="zh-CN" dirty="0"/>
              <a:t>——</a:t>
            </a:r>
            <a:r>
              <a:rPr lang="zh-CN" altLang="en-US" dirty="0"/>
              <a:t>安全鲁棒性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任务：恶意输入检测（二分类）。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策略：</a:t>
            </a:r>
            <a:r>
              <a:rPr lang="en-US" altLang="zh-CN" dirty="0"/>
              <a:t>FC-based vs. </a:t>
            </a:r>
            <a:r>
              <a:rPr lang="zh-CN" altLang="en-US" dirty="0"/>
              <a:t>语义等价的 </a:t>
            </a:r>
            <a:r>
              <a:rPr lang="en-US" altLang="zh-CN" dirty="0"/>
              <a:t>prompt-based </a:t>
            </a:r>
            <a:r>
              <a:rPr lang="zh-CN" altLang="en-US" dirty="0"/>
              <a:t>系统指令。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结果：</a:t>
            </a:r>
            <a:r>
              <a:rPr lang="en-US" altLang="zh-CN" dirty="0"/>
              <a:t>FC </a:t>
            </a:r>
            <a:r>
              <a:rPr lang="zh-CN" altLang="en-US" dirty="0"/>
              <a:t>平均检测率提升 </a:t>
            </a:r>
            <a:r>
              <a:rPr lang="en-US" altLang="zh-CN" dirty="0"/>
              <a:t>135%</a:t>
            </a:r>
            <a:r>
              <a:rPr lang="zh-CN" altLang="en-US" dirty="0"/>
              <a:t>， </a:t>
            </a:r>
            <a:r>
              <a:rPr lang="en-US" altLang="zh-CN" dirty="0"/>
              <a:t>helpfulness </a:t>
            </a:r>
            <a:r>
              <a:rPr lang="zh-CN" altLang="en-US" dirty="0"/>
              <a:t>分数下降 </a:t>
            </a:r>
            <a:r>
              <a:rPr lang="en-US" altLang="zh-CN" dirty="0"/>
              <a:t>&lt;0.02</a:t>
            </a:r>
            <a:r>
              <a:rPr lang="zh-CN" altLang="en-US" dirty="0"/>
              <a:t>，时间开销增加 </a:t>
            </a:r>
            <a:r>
              <a:rPr lang="en-US" altLang="zh-CN" dirty="0"/>
              <a:t>&lt;0.5 s/</a:t>
            </a:r>
            <a:r>
              <a:rPr lang="zh-CN" altLang="en-US" dirty="0"/>
              <a:t>样本。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E9CF3E-A84F-8329-DCCA-99974AFCA0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EC86DE3-2F92-8653-0648-CD65294501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0ECF65-907A-42C7-8298-DAADFCC5AA34}" type="slidenum">
              <a:rPr lang="zh-CN" altLang="en-US" smtClean="0"/>
              <a:t>11</a:t>
            </a:fld>
            <a:endParaRPr lang="zh-CN" altLang="en-US"/>
          </a:p>
        </p:txBody>
      </p: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B39FBF21-B52B-2370-33E6-57578725111A}"/>
              </a:ext>
            </a:extLst>
          </p:cNvPr>
          <p:cNvCxnSpPr/>
          <p:nvPr/>
        </p:nvCxnSpPr>
        <p:spPr>
          <a:xfrm flipV="1">
            <a:off x="888086" y="641433"/>
            <a:ext cx="10243692" cy="13555"/>
          </a:xfrm>
          <a:prstGeom prst="line">
            <a:avLst/>
          </a:prstGeom>
          <a:ln w="12700">
            <a:solidFill>
              <a:schemeClr val="accent3">
                <a:lumMod val="50000"/>
                <a:alpha val="50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3" name="文本框 12">
            <a:extLst>
              <a:ext uri="{FF2B5EF4-FFF2-40B4-BE49-F238E27FC236}">
                <a16:creationId xmlns:a16="http://schemas.microsoft.com/office/drawing/2014/main" id="{D1501887-3753-56B7-665D-8815B78EF546}"/>
              </a:ext>
            </a:extLst>
          </p:cNvPr>
          <p:cNvSpPr txBox="1"/>
          <p:nvPr/>
        </p:nvSpPr>
        <p:spPr>
          <a:xfrm>
            <a:off x="936876" y="216323"/>
            <a:ext cx="795988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token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干预</a:t>
            </a:r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70966CE5-7BBA-5F58-8218-9D342D0270C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2818" y="299692"/>
            <a:ext cx="487370" cy="610980"/>
          </a:xfrm>
          <a:prstGeom prst="rect">
            <a:avLst/>
          </a:prstGeom>
        </p:spPr>
      </p:pic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79D674DC-663F-111A-94C0-F9128FF93CA2}"/>
              </a:ext>
            </a:extLst>
          </p:cNvPr>
          <p:cNvCxnSpPr/>
          <p:nvPr/>
        </p:nvCxnSpPr>
        <p:spPr>
          <a:xfrm flipV="1">
            <a:off x="1060221" y="6304583"/>
            <a:ext cx="10071557" cy="1"/>
          </a:xfrm>
          <a:prstGeom prst="line">
            <a:avLst/>
          </a:prstGeom>
          <a:ln w="12700">
            <a:solidFill>
              <a:schemeClr val="accent3">
                <a:lumMod val="50000"/>
                <a:alpha val="50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8730B6E7-4131-E11E-5A57-842034EFD436}"/>
              </a:ext>
            </a:extLst>
          </p:cNvPr>
          <p:cNvCxnSpPr/>
          <p:nvPr/>
        </p:nvCxnSpPr>
        <p:spPr>
          <a:xfrm>
            <a:off x="888086" y="214862"/>
            <a:ext cx="0" cy="695810"/>
          </a:xfrm>
          <a:prstGeom prst="line">
            <a:avLst/>
          </a:prstGeom>
          <a:ln w="12700">
            <a:solidFill>
              <a:schemeClr val="dk1">
                <a:alpha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文本框 1">
            <a:extLst>
              <a:ext uri="{FF2B5EF4-FFF2-40B4-BE49-F238E27FC236}">
                <a16:creationId xmlns:a16="http://schemas.microsoft.com/office/drawing/2014/main" id="{240C12DE-7E1D-6A47-9540-25ECFCA039CF}"/>
              </a:ext>
            </a:extLst>
          </p:cNvPr>
          <p:cNvSpPr txBox="1"/>
          <p:nvPr/>
        </p:nvSpPr>
        <p:spPr>
          <a:xfrm>
            <a:off x="814919" y="962438"/>
            <a:ext cx="1031685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阶段 </a:t>
            </a:r>
            <a:r>
              <a:rPr lang="en-US" altLang="zh-CN" dirty="0"/>
              <a:t>1</a:t>
            </a:r>
            <a:r>
              <a:rPr lang="zh-CN" altLang="en-US" dirty="0"/>
              <a:t>：因果探针</a:t>
            </a:r>
          </a:p>
          <a:p>
            <a:pPr marL="342900" indent="-342900">
              <a:buFont typeface="+mj-lt"/>
              <a:buAutoNum type="arabicPeriod"/>
            </a:pPr>
            <a:r>
              <a:rPr lang="zh-CN" altLang="en-US" dirty="0"/>
              <a:t>把 </a:t>
            </a:r>
            <a:r>
              <a:rPr lang="en-US" altLang="zh-CN" dirty="0"/>
              <a:t>LLM </a:t>
            </a:r>
            <a:r>
              <a:rPr lang="zh-CN" altLang="en-US" dirty="0"/>
              <a:t>等价于</a:t>
            </a:r>
            <a:r>
              <a:rPr lang="zh-CN" altLang="en-US" b="1" dirty="0"/>
              <a:t>结构因果模型（</a:t>
            </a:r>
            <a:r>
              <a:rPr lang="en-US" altLang="zh-CN" b="1" dirty="0"/>
              <a:t>SCM</a:t>
            </a:r>
            <a:r>
              <a:rPr lang="zh-CN" altLang="en-US" b="1" dirty="0"/>
              <a:t>）</a:t>
            </a:r>
            <a:r>
              <a:rPr lang="zh-CN" altLang="en-US" dirty="0"/>
              <a:t>：每层隐藏态</a:t>
            </a:r>
            <a:r>
              <a:rPr lang="en-US" altLang="zh-CN" dirty="0"/>
              <a:t>/</a:t>
            </a:r>
            <a:r>
              <a:rPr lang="zh-CN" altLang="en-US" dirty="0"/>
              <a:t>每个</a:t>
            </a:r>
            <a:r>
              <a:rPr lang="en-US" altLang="zh-CN" dirty="0"/>
              <a:t>token</a:t>
            </a:r>
            <a:r>
              <a:rPr lang="zh-CN" altLang="en-US" dirty="0"/>
              <a:t>视为变量，前向计算视为结构方程。</a:t>
            </a:r>
          </a:p>
          <a:p>
            <a:pPr marL="342900" indent="-342900">
              <a:buFont typeface="+mj-lt"/>
              <a:buAutoNum type="arabicPeriod"/>
            </a:pPr>
            <a:r>
              <a:rPr lang="en-US" altLang="zh-CN" dirty="0"/>
              <a:t>layer</a:t>
            </a:r>
            <a:r>
              <a:rPr lang="zh-CN" altLang="en-US" dirty="0"/>
              <a:t>干预：对第 </a:t>
            </a:r>
            <a:r>
              <a:rPr lang="en-US" altLang="zh-CN" dirty="0"/>
              <a:t>l </a:t>
            </a:r>
            <a:r>
              <a:rPr lang="zh-CN" altLang="en-US" dirty="0"/>
              <a:t>层输出施加“跳过”或“零化”，度量输出 </a:t>
            </a:r>
            <a:r>
              <a:rPr lang="en-US" altLang="zh-CN" dirty="0"/>
              <a:t>logits </a:t>
            </a:r>
            <a:r>
              <a:rPr lang="zh-CN" altLang="en-US" dirty="0"/>
              <a:t>的 </a:t>
            </a:r>
            <a:r>
              <a:rPr lang="en-US" altLang="zh-CN" dirty="0"/>
              <a:t>L₂ </a:t>
            </a:r>
            <a:r>
              <a:rPr lang="zh-CN" altLang="en-US" dirty="0"/>
              <a:t>变化 → 得层 </a:t>
            </a:r>
            <a:r>
              <a:rPr lang="en-US" altLang="zh-CN" dirty="0"/>
              <a:t>ACE</a:t>
            </a:r>
            <a:r>
              <a:rPr lang="zh-CN" altLang="en-US" dirty="0"/>
              <a:t>。</a:t>
            </a:r>
          </a:p>
          <a:p>
            <a:pPr marL="342900" indent="-342900">
              <a:buFont typeface="+mj-lt"/>
              <a:buAutoNum type="arabicPeriod"/>
            </a:pPr>
            <a:r>
              <a:rPr lang="en-US" altLang="zh-CN" dirty="0"/>
              <a:t>token</a:t>
            </a:r>
            <a:r>
              <a:rPr lang="zh-CN" altLang="en-US" dirty="0"/>
              <a:t>干预：将输入子句（</a:t>
            </a:r>
            <a:r>
              <a:rPr lang="en-US" altLang="zh-CN" dirty="0"/>
              <a:t>clause</a:t>
            </a:r>
            <a:r>
              <a:rPr lang="zh-CN" altLang="en-US" dirty="0"/>
              <a:t>）整体替换为无意义符号，重复 </a:t>
            </a:r>
            <a:r>
              <a:rPr lang="en-US" altLang="zh-CN" dirty="0"/>
              <a:t>5 </a:t>
            </a:r>
            <a:r>
              <a:rPr lang="zh-CN" altLang="en-US" dirty="0"/>
              <a:t>次采样，计算该 </a:t>
            </a:r>
            <a:r>
              <a:rPr lang="en-US" altLang="zh-CN" dirty="0"/>
              <a:t>clause </a:t>
            </a:r>
            <a:r>
              <a:rPr lang="zh-CN" altLang="en-US" dirty="0"/>
              <a:t>的 </a:t>
            </a:r>
            <a:r>
              <a:rPr lang="en-US" altLang="zh-CN" dirty="0"/>
              <a:t>ACE</a:t>
            </a:r>
            <a:r>
              <a:rPr lang="zh-CN" altLang="en-US" dirty="0"/>
              <a:t>。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D3B5C492-7C9F-B80E-8D0C-695F580D4B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6876" y="2162767"/>
            <a:ext cx="9872732" cy="3407334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4DFFCB7E-9EB4-E67E-B869-2302BC36C54A}"/>
              </a:ext>
            </a:extLst>
          </p:cNvPr>
          <p:cNvSpPr txBox="1"/>
          <p:nvPr/>
        </p:nvSpPr>
        <p:spPr>
          <a:xfrm>
            <a:off x="936876" y="5768493"/>
            <a:ext cx="98727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/>
              <a:t>The LLMs without FC are more vulnerable to unrelated clauses (the clause in yellow)</a:t>
            </a:r>
            <a:endParaRPr lang="zh-CN" alt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32991049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7F6076-88EA-A396-28CE-E8D9CC060F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8575397-5CBB-43F3-A221-7EF620BF8F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0ECF65-907A-42C7-8298-DAADFCC5AA34}" type="slidenum">
              <a:rPr lang="zh-CN" altLang="en-US" smtClean="0"/>
              <a:t>12</a:t>
            </a:fld>
            <a:endParaRPr lang="zh-CN" altLang="en-US"/>
          </a:p>
        </p:txBody>
      </p: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F33CA234-F15B-22F3-A864-9F492487A49E}"/>
              </a:ext>
            </a:extLst>
          </p:cNvPr>
          <p:cNvCxnSpPr/>
          <p:nvPr/>
        </p:nvCxnSpPr>
        <p:spPr>
          <a:xfrm flipV="1">
            <a:off x="888086" y="641433"/>
            <a:ext cx="10243692" cy="13555"/>
          </a:xfrm>
          <a:prstGeom prst="line">
            <a:avLst/>
          </a:prstGeom>
          <a:ln w="12700">
            <a:solidFill>
              <a:schemeClr val="accent3">
                <a:lumMod val="50000"/>
                <a:alpha val="50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3" name="文本框 12">
            <a:extLst>
              <a:ext uri="{FF2B5EF4-FFF2-40B4-BE49-F238E27FC236}">
                <a16:creationId xmlns:a16="http://schemas.microsoft.com/office/drawing/2014/main" id="{3E33514E-60CF-9FC8-8CD9-318E09CF3E7B}"/>
              </a:ext>
            </a:extLst>
          </p:cNvPr>
          <p:cNvSpPr txBox="1"/>
          <p:nvPr/>
        </p:nvSpPr>
        <p:spPr>
          <a:xfrm>
            <a:off x="936876" y="216323"/>
            <a:ext cx="795988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token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干预</a:t>
            </a:r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16B4C6D8-BCE1-F270-BBF6-0CD3FE0D5C6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2818" y="299692"/>
            <a:ext cx="487370" cy="610980"/>
          </a:xfrm>
          <a:prstGeom prst="rect">
            <a:avLst/>
          </a:prstGeom>
        </p:spPr>
      </p:pic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42D50133-D671-9FF8-3003-A6FFBC9734E8}"/>
              </a:ext>
            </a:extLst>
          </p:cNvPr>
          <p:cNvCxnSpPr/>
          <p:nvPr/>
        </p:nvCxnSpPr>
        <p:spPr>
          <a:xfrm flipV="1">
            <a:off x="1060221" y="6304583"/>
            <a:ext cx="10071557" cy="1"/>
          </a:xfrm>
          <a:prstGeom prst="line">
            <a:avLst/>
          </a:prstGeom>
          <a:ln w="12700">
            <a:solidFill>
              <a:schemeClr val="accent3">
                <a:lumMod val="50000"/>
                <a:alpha val="50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AA4345CB-88F9-F861-C51C-E71BCD61A5CE}"/>
              </a:ext>
            </a:extLst>
          </p:cNvPr>
          <p:cNvCxnSpPr/>
          <p:nvPr/>
        </p:nvCxnSpPr>
        <p:spPr>
          <a:xfrm>
            <a:off x="888086" y="214862"/>
            <a:ext cx="0" cy="695810"/>
          </a:xfrm>
          <a:prstGeom prst="line">
            <a:avLst/>
          </a:prstGeom>
          <a:ln w="12700">
            <a:solidFill>
              <a:schemeClr val="dk1">
                <a:alpha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文本框 1">
            <a:extLst>
              <a:ext uri="{FF2B5EF4-FFF2-40B4-BE49-F238E27FC236}">
                <a16:creationId xmlns:a16="http://schemas.microsoft.com/office/drawing/2014/main" id="{4EFD6981-42E4-E713-F5F6-249633652D38}"/>
              </a:ext>
            </a:extLst>
          </p:cNvPr>
          <p:cNvSpPr txBox="1"/>
          <p:nvPr/>
        </p:nvSpPr>
        <p:spPr>
          <a:xfrm>
            <a:off x="814919" y="962438"/>
            <a:ext cx="1031685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阶段 </a:t>
            </a:r>
            <a:r>
              <a:rPr lang="en-US" altLang="zh-CN" dirty="0"/>
              <a:t>1</a:t>
            </a:r>
            <a:r>
              <a:rPr lang="zh-CN" altLang="en-US" dirty="0"/>
              <a:t>：因果探针</a:t>
            </a:r>
          </a:p>
          <a:p>
            <a:pPr marL="342900" indent="-342900">
              <a:buFont typeface="+mj-lt"/>
              <a:buAutoNum type="arabicPeriod"/>
            </a:pPr>
            <a:r>
              <a:rPr lang="zh-CN" altLang="en-US" dirty="0"/>
              <a:t>把 </a:t>
            </a:r>
            <a:r>
              <a:rPr lang="en-US" altLang="zh-CN" dirty="0"/>
              <a:t>LLM </a:t>
            </a:r>
            <a:r>
              <a:rPr lang="zh-CN" altLang="en-US" dirty="0"/>
              <a:t>等价于</a:t>
            </a:r>
            <a:r>
              <a:rPr lang="zh-CN" altLang="en-US" b="1" dirty="0"/>
              <a:t>结构因果模型（</a:t>
            </a:r>
            <a:r>
              <a:rPr lang="en-US" altLang="zh-CN" b="1" dirty="0"/>
              <a:t>SCM</a:t>
            </a:r>
            <a:r>
              <a:rPr lang="zh-CN" altLang="en-US" b="1" dirty="0"/>
              <a:t>）</a:t>
            </a:r>
            <a:r>
              <a:rPr lang="zh-CN" altLang="en-US" dirty="0"/>
              <a:t>：每层隐藏态</a:t>
            </a:r>
            <a:r>
              <a:rPr lang="en-US" altLang="zh-CN" dirty="0"/>
              <a:t>/</a:t>
            </a:r>
            <a:r>
              <a:rPr lang="zh-CN" altLang="en-US" dirty="0"/>
              <a:t>每个</a:t>
            </a:r>
            <a:r>
              <a:rPr lang="en-US" altLang="zh-CN" dirty="0"/>
              <a:t>token</a:t>
            </a:r>
            <a:r>
              <a:rPr lang="zh-CN" altLang="en-US" dirty="0"/>
              <a:t>视为变量，前向计算视为结构方程。</a:t>
            </a:r>
          </a:p>
          <a:p>
            <a:pPr marL="342900" indent="-342900">
              <a:buFont typeface="+mj-lt"/>
              <a:buAutoNum type="arabicPeriod"/>
            </a:pPr>
            <a:r>
              <a:rPr lang="en-US" altLang="zh-CN" dirty="0"/>
              <a:t>layer</a:t>
            </a:r>
            <a:r>
              <a:rPr lang="zh-CN" altLang="en-US" dirty="0"/>
              <a:t>干预：对第 </a:t>
            </a:r>
            <a:r>
              <a:rPr lang="en-US" altLang="zh-CN" dirty="0"/>
              <a:t>l </a:t>
            </a:r>
            <a:r>
              <a:rPr lang="zh-CN" altLang="en-US" dirty="0"/>
              <a:t>层输出施加“跳过”或“零化”，度量输出 </a:t>
            </a:r>
            <a:r>
              <a:rPr lang="en-US" altLang="zh-CN" dirty="0"/>
              <a:t>logits </a:t>
            </a:r>
            <a:r>
              <a:rPr lang="zh-CN" altLang="en-US" dirty="0"/>
              <a:t>的 </a:t>
            </a:r>
            <a:r>
              <a:rPr lang="en-US" altLang="zh-CN" dirty="0"/>
              <a:t>L₂ </a:t>
            </a:r>
            <a:r>
              <a:rPr lang="zh-CN" altLang="en-US" dirty="0"/>
              <a:t>变化 → 得层 </a:t>
            </a:r>
            <a:r>
              <a:rPr lang="en-US" altLang="zh-CN" dirty="0"/>
              <a:t>ACE</a:t>
            </a:r>
            <a:r>
              <a:rPr lang="zh-CN" altLang="en-US" dirty="0"/>
              <a:t>。</a:t>
            </a:r>
          </a:p>
          <a:p>
            <a:pPr marL="342900" indent="-342900">
              <a:buFont typeface="+mj-lt"/>
              <a:buAutoNum type="arabicPeriod"/>
            </a:pPr>
            <a:r>
              <a:rPr lang="en-US" altLang="zh-CN" dirty="0"/>
              <a:t>token</a:t>
            </a:r>
            <a:r>
              <a:rPr lang="zh-CN" altLang="en-US" dirty="0"/>
              <a:t>干预：将输入子句（</a:t>
            </a:r>
            <a:r>
              <a:rPr lang="en-US" altLang="zh-CN" dirty="0"/>
              <a:t>clause</a:t>
            </a:r>
            <a:r>
              <a:rPr lang="zh-CN" altLang="en-US" dirty="0"/>
              <a:t>）整体替换为无意义符号，重复 </a:t>
            </a:r>
            <a:r>
              <a:rPr lang="en-US" altLang="zh-CN" dirty="0"/>
              <a:t>5 </a:t>
            </a:r>
            <a:r>
              <a:rPr lang="zh-CN" altLang="en-US" dirty="0"/>
              <a:t>次采样，计算该 </a:t>
            </a:r>
            <a:r>
              <a:rPr lang="en-US" altLang="zh-CN" dirty="0"/>
              <a:t>clause </a:t>
            </a:r>
            <a:r>
              <a:rPr lang="zh-CN" altLang="en-US" dirty="0"/>
              <a:t>的 </a:t>
            </a:r>
            <a:r>
              <a:rPr lang="en-US" altLang="zh-CN" dirty="0"/>
              <a:t>ACE</a:t>
            </a:r>
            <a:r>
              <a:rPr lang="zh-CN" altLang="en-US" dirty="0"/>
              <a:t>。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D7D24333-871F-07A1-246C-ED52450ED8F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6181" y="2534829"/>
            <a:ext cx="6095238" cy="1933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24922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0ECF65-907A-42C7-8298-DAADFCC5AA34}" type="slidenum">
              <a:rPr lang="zh-CN" altLang="en-US" smtClean="0"/>
              <a:t>13</a:t>
            </a:fld>
            <a:endParaRPr lang="zh-CN" altLang="en-US"/>
          </a:p>
        </p:txBody>
      </p:sp>
      <p:cxnSp>
        <p:nvCxnSpPr>
          <p:cNvPr id="11" name="直接连接符 10"/>
          <p:cNvCxnSpPr/>
          <p:nvPr/>
        </p:nvCxnSpPr>
        <p:spPr>
          <a:xfrm flipV="1">
            <a:off x="888086" y="641433"/>
            <a:ext cx="10243692" cy="13555"/>
          </a:xfrm>
          <a:prstGeom prst="line">
            <a:avLst/>
          </a:prstGeom>
          <a:ln w="12700">
            <a:solidFill>
              <a:schemeClr val="accent3">
                <a:lumMod val="50000"/>
                <a:alpha val="50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3" name="文本框 12"/>
          <p:cNvSpPr txBox="1"/>
          <p:nvPr/>
        </p:nvSpPr>
        <p:spPr>
          <a:xfrm>
            <a:off x="936876" y="216323"/>
            <a:ext cx="795988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数据集和模型</a:t>
            </a:r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2818" y="299692"/>
            <a:ext cx="487370" cy="610980"/>
          </a:xfrm>
          <a:prstGeom prst="rect">
            <a:avLst/>
          </a:prstGeom>
        </p:spPr>
      </p:pic>
      <p:cxnSp>
        <p:nvCxnSpPr>
          <p:cNvPr id="17" name="直接连接符 16"/>
          <p:cNvCxnSpPr/>
          <p:nvPr/>
        </p:nvCxnSpPr>
        <p:spPr>
          <a:xfrm flipV="1">
            <a:off x="1060221" y="6304583"/>
            <a:ext cx="10071557" cy="1"/>
          </a:xfrm>
          <a:prstGeom prst="line">
            <a:avLst/>
          </a:prstGeom>
          <a:ln w="12700">
            <a:solidFill>
              <a:schemeClr val="accent3">
                <a:lumMod val="50000"/>
                <a:alpha val="50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3" name="直接连接符 2"/>
          <p:cNvCxnSpPr/>
          <p:nvPr/>
        </p:nvCxnSpPr>
        <p:spPr>
          <a:xfrm>
            <a:off x="888086" y="214862"/>
            <a:ext cx="0" cy="695810"/>
          </a:xfrm>
          <a:prstGeom prst="line">
            <a:avLst/>
          </a:prstGeom>
          <a:ln w="12700">
            <a:solidFill>
              <a:schemeClr val="dk1">
                <a:alpha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936876" y="1204807"/>
            <a:ext cx="10243692" cy="485330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zh-CN" sz="2800" dirty="0" err="1"/>
              <a:t>WildJailbreak</a:t>
            </a:r>
            <a:r>
              <a:rPr lang="zh-CN" altLang="en-US" sz="2800" dirty="0"/>
              <a:t>：</a:t>
            </a:r>
            <a:r>
              <a:rPr lang="en-US" altLang="zh-CN" sz="2800" dirty="0"/>
              <a:t>8 </a:t>
            </a:r>
            <a:r>
              <a:rPr lang="zh-CN" altLang="en-US" sz="2800" dirty="0"/>
              <a:t>万真实越狱样本，人工已标恶意</a:t>
            </a:r>
            <a:r>
              <a:rPr lang="en-US" altLang="zh-CN" sz="2800" dirty="0"/>
              <a:t>/</a:t>
            </a:r>
            <a:r>
              <a:rPr lang="zh-CN" altLang="en-US" sz="2800" dirty="0"/>
              <a:t>无害；从中选 </a:t>
            </a:r>
            <a:r>
              <a:rPr lang="en-US" altLang="zh-CN" sz="2800" dirty="0"/>
              <a:t>100 </a:t>
            </a:r>
            <a:r>
              <a:rPr lang="zh-CN" altLang="en-US" sz="2800" dirty="0"/>
              <a:t>条“</a:t>
            </a:r>
            <a:r>
              <a:rPr lang="en-US" altLang="zh-CN" sz="2800" dirty="0"/>
              <a:t>prompt </a:t>
            </a:r>
            <a:r>
              <a:rPr lang="zh-CN" altLang="en-US" sz="2800" dirty="0"/>
              <a:t>失败但 </a:t>
            </a:r>
            <a:r>
              <a:rPr lang="en-US" altLang="zh-CN" sz="2800" dirty="0"/>
              <a:t>FC </a:t>
            </a:r>
            <a:r>
              <a:rPr lang="zh-CN" altLang="en-US" sz="2800" dirty="0"/>
              <a:t>成功”的 </a:t>
            </a:r>
            <a:r>
              <a:rPr lang="en-US" altLang="zh-CN" sz="2800" dirty="0"/>
              <a:t>hard case </a:t>
            </a:r>
            <a:r>
              <a:rPr lang="zh-CN" altLang="en-US" sz="2800" dirty="0"/>
              <a:t>做因果探针。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zh-CN" sz="2800" dirty="0"/>
              <a:t>MMLU-Pro</a:t>
            </a:r>
            <a:r>
              <a:rPr lang="zh-CN" altLang="en-US" sz="2800" dirty="0"/>
              <a:t>：</a:t>
            </a:r>
            <a:r>
              <a:rPr lang="en-US" altLang="zh-CN" sz="2800" dirty="0"/>
              <a:t>1.2 </a:t>
            </a:r>
            <a:r>
              <a:rPr lang="zh-CN" altLang="en-US" sz="2800" dirty="0"/>
              <a:t>万跨学科问答，用于评估 </a:t>
            </a:r>
            <a:r>
              <a:rPr lang="en-US" altLang="zh-CN" sz="2800" dirty="0"/>
              <a:t>FC </a:t>
            </a:r>
            <a:r>
              <a:rPr lang="zh-CN" altLang="en-US" sz="2800" dirty="0"/>
              <a:t>对通用能力（</a:t>
            </a:r>
            <a:r>
              <a:rPr lang="en-US" altLang="zh-CN" sz="2800" dirty="0"/>
              <a:t>helpfulness</a:t>
            </a:r>
            <a:r>
              <a:rPr lang="zh-CN" altLang="en-US" sz="2800" dirty="0"/>
              <a:t>）的副作用。</a:t>
            </a:r>
          </a:p>
          <a:p>
            <a:r>
              <a:rPr lang="zh-CN" altLang="en-US" sz="2800" dirty="0"/>
              <a:t>模型（全部原生支持 </a:t>
            </a:r>
            <a:r>
              <a:rPr lang="en-US" altLang="zh-CN" sz="2800" dirty="0"/>
              <a:t>FC</a:t>
            </a:r>
            <a:r>
              <a:rPr lang="zh-CN" altLang="en-US" sz="2800" dirty="0"/>
              <a:t>，温度</a:t>
            </a:r>
            <a:r>
              <a:rPr lang="en-US" altLang="zh-CN" sz="2800" dirty="0"/>
              <a:t>=0</a:t>
            </a:r>
            <a:r>
              <a:rPr lang="zh-CN" altLang="en-US" sz="2800" dirty="0"/>
              <a:t>）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zh-CN" sz="2800" dirty="0"/>
              <a:t>Llama-3.1-8B / 70B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zh-CN" sz="2800" dirty="0"/>
              <a:t>Mistral-22B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zh-CN" sz="2800" dirty="0"/>
              <a:t>Hermes-3-8B</a:t>
            </a:r>
            <a:r>
              <a:rPr lang="zh-CN" altLang="en-US" sz="2800" dirty="0"/>
              <a:t>（</a:t>
            </a:r>
            <a:r>
              <a:rPr lang="en-US" altLang="zh-CN" sz="2800" dirty="0"/>
              <a:t>Llama-3.1 </a:t>
            </a:r>
            <a:r>
              <a:rPr lang="zh-CN" altLang="en-US" sz="2800" dirty="0"/>
              <a:t>指令精调版）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070548" y="2026487"/>
            <a:ext cx="10134862" cy="1402513"/>
          </a:xfrm>
        </p:spPr>
        <p:txBody>
          <a:bodyPr>
            <a:normAutofit fontScale="90000"/>
          </a:bodyPr>
          <a:lstStyle/>
          <a:p>
            <a:r>
              <a:rPr lang="en-US" altLang="zh-CN" sz="4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Causality-Aided Evaluation and Explanation of Large Language Model-Based Code Generation</a:t>
            </a: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0ECF65-907A-42C7-8298-DAADFCC5AA34}" type="slidenum">
              <a:rPr lang="zh-CN" altLang="en-US" smtClean="0"/>
              <a:t>14</a:t>
            </a:fld>
            <a:endParaRPr lang="zh-CN" altLang="en-US" dirty="0"/>
          </a:p>
        </p:txBody>
      </p:sp>
      <p:sp>
        <p:nvSpPr>
          <p:cNvPr id="3" name="文本框 2"/>
          <p:cNvSpPr txBox="1"/>
          <p:nvPr/>
        </p:nvSpPr>
        <p:spPr>
          <a:xfrm>
            <a:off x="3337286" y="3841847"/>
            <a:ext cx="5517427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/>
              <a:t>ISSTA 2025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0ECF65-907A-42C7-8298-DAADFCC5AA34}" type="slidenum">
              <a:rPr lang="zh-CN" altLang="en-US" smtClean="0"/>
              <a:t>15</a:t>
            </a:fld>
            <a:endParaRPr lang="zh-CN" altLang="en-US"/>
          </a:p>
        </p:txBody>
      </p:sp>
      <p:cxnSp>
        <p:nvCxnSpPr>
          <p:cNvPr id="11" name="直接连接符 10"/>
          <p:cNvCxnSpPr/>
          <p:nvPr/>
        </p:nvCxnSpPr>
        <p:spPr>
          <a:xfrm flipV="1">
            <a:off x="888086" y="641433"/>
            <a:ext cx="10243692" cy="13555"/>
          </a:xfrm>
          <a:prstGeom prst="line">
            <a:avLst/>
          </a:prstGeom>
          <a:ln w="12700">
            <a:solidFill>
              <a:schemeClr val="accent3">
                <a:lumMod val="50000"/>
                <a:alpha val="50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3" name="文本框 12"/>
          <p:cNvSpPr txBox="1"/>
          <p:nvPr/>
        </p:nvSpPr>
        <p:spPr>
          <a:xfrm>
            <a:off x="936876" y="216323"/>
            <a:ext cx="795988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背景</a:t>
            </a:r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2818" y="299692"/>
            <a:ext cx="487370" cy="610980"/>
          </a:xfrm>
          <a:prstGeom prst="rect">
            <a:avLst/>
          </a:prstGeom>
        </p:spPr>
      </p:pic>
      <p:cxnSp>
        <p:nvCxnSpPr>
          <p:cNvPr id="17" name="直接连接符 16"/>
          <p:cNvCxnSpPr/>
          <p:nvPr/>
        </p:nvCxnSpPr>
        <p:spPr>
          <a:xfrm flipV="1">
            <a:off x="1281836" y="6330618"/>
            <a:ext cx="10071557" cy="1"/>
          </a:xfrm>
          <a:prstGeom prst="line">
            <a:avLst/>
          </a:prstGeom>
          <a:ln w="12700">
            <a:solidFill>
              <a:schemeClr val="accent3">
                <a:lumMod val="50000"/>
                <a:alpha val="50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3" name="直接连接符 2"/>
          <p:cNvCxnSpPr/>
          <p:nvPr/>
        </p:nvCxnSpPr>
        <p:spPr>
          <a:xfrm>
            <a:off x="888086" y="214862"/>
            <a:ext cx="0" cy="695810"/>
          </a:xfrm>
          <a:prstGeom prst="line">
            <a:avLst/>
          </a:prstGeom>
          <a:ln w="12700">
            <a:solidFill>
              <a:schemeClr val="dk1">
                <a:alpha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1060221" y="1399241"/>
            <a:ext cx="916728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zh-CN" altLang="en-US" sz="2800" dirty="0"/>
              <a:t>代码生成是自动软件工程的核心任务，</a:t>
            </a:r>
            <a:r>
              <a:rPr lang="en-US" altLang="zh-CN" sz="2800" dirty="0"/>
              <a:t>LLM</a:t>
            </a:r>
            <a:r>
              <a:rPr lang="zh-CN" altLang="en-US" sz="2800" dirty="0"/>
              <a:t>（</a:t>
            </a:r>
            <a:r>
              <a:rPr lang="en-US" altLang="zh-CN" sz="2800" dirty="0"/>
              <a:t>GPT-4</a:t>
            </a:r>
            <a:r>
              <a:rPr lang="zh-CN" altLang="en-US" sz="2800" dirty="0"/>
              <a:t>、</a:t>
            </a:r>
            <a:r>
              <a:rPr lang="en-US" altLang="zh-CN" sz="2800" dirty="0"/>
              <a:t>Copilot </a:t>
            </a:r>
            <a:r>
              <a:rPr lang="zh-CN" altLang="en-US" sz="2800" dirty="0"/>
              <a:t>等）已展现出类人甚至超人的编程表现。</a:t>
            </a:r>
          </a:p>
          <a:p>
            <a:endParaRPr lang="en-US" altLang="zh-CN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zh-CN" altLang="en-US" sz="2800" dirty="0"/>
              <a:t>与传统基于搜索或规则的方法相比，</a:t>
            </a:r>
            <a:r>
              <a:rPr lang="en-US" altLang="zh-CN" sz="2800" dirty="0"/>
              <a:t>LLM </a:t>
            </a:r>
            <a:r>
              <a:rPr lang="zh-CN" altLang="en-US" sz="2800" dirty="0"/>
              <a:t>采用“预训练</a:t>
            </a:r>
            <a:r>
              <a:rPr lang="en-US" altLang="zh-CN" sz="2800" dirty="0"/>
              <a:t>+</a:t>
            </a:r>
            <a:r>
              <a:rPr lang="zh-CN" altLang="en-US" sz="2800" dirty="0"/>
              <a:t>提示”范式，仅需自然语言提示即可生成代码，部署门槛低、生态普及快。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5E709B-34B8-E6FC-61C8-D3981366F1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DB25611-0EB8-D867-D5D5-76C8097C78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0ECF65-907A-42C7-8298-DAADFCC5AA34}" type="slidenum">
              <a:rPr lang="zh-CN" altLang="en-US" smtClean="0"/>
              <a:t>16</a:t>
            </a:fld>
            <a:endParaRPr lang="zh-CN" altLang="en-US"/>
          </a:p>
        </p:txBody>
      </p: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AD84B0ED-FE1D-1628-70A6-193BE4687C58}"/>
              </a:ext>
            </a:extLst>
          </p:cNvPr>
          <p:cNvCxnSpPr/>
          <p:nvPr/>
        </p:nvCxnSpPr>
        <p:spPr>
          <a:xfrm flipV="1">
            <a:off x="888086" y="641433"/>
            <a:ext cx="10243692" cy="13555"/>
          </a:xfrm>
          <a:prstGeom prst="line">
            <a:avLst/>
          </a:prstGeom>
          <a:ln w="12700">
            <a:solidFill>
              <a:schemeClr val="accent3">
                <a:lumMod val="50000"/>
                <a:alpha val="50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3" name="文本框 12">
            <a:extLst>
              <a:ext uri="{FF2B5EF4-FFF2-40B4-BE49-F238E27FC236}">
                <a16:creationId xmlns:a16="http://schemas.microsoft.com/office/drawing/2014/main" id="{50C47106-07B9-2A25-C025-EA10C40E1BFA}"/>
              </a:ext>
            </a:extLst>
          </p:cNvPr>
          <p:cNvSpPr txBox="1"/>
          <p:nvPr/>
        </p:nvSpPr>
        <p:spPr>
          <a:xfrm>
            <a:off x="936876" y="216323"/>
            <a:ext cx="795988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问题</a:t>
            </a:r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FFDD32BA-B4FF-65DB-AC30-4DF857174B3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2818" y="299692"/>
            <a:ext cx="487370" cy="610980"/>
          </a:xfrm>
          <a:prstGeom prst="rect">
            <a:avLst/>
          </a:prstGeom>
        </p:spPr>
      </p:pic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1A5E8B5B-E299-859A-EB53-339D5C151200}"/>
              </a:ext>
            </a:extLst>
          </p:cNvPr>
          <p:cNvCxnSpPr/>
          <p:nvPr/>
        </p:nvCxnSpPr>
        <p:spPr>
          <a:xfrm flipV="1">
            <a:off x="1281836" y="6330618"/>
            <a:ext cx="10071557" cy="1"/>
          </a:xfrm>
          <a:prstGeom prst="line">
            <a:avLst/>
          </a:prstGeom>
          <a:ln w="12700">
            <a:solidFill>
              <a:schemeClr val="accent3">
                <a:lumMod val="50000"/>
                <a:alpha val="50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E5B33B25-DDBE-77DF-A1A2-00359E5B7948}"/>
              </a:ext>
            </a:extLst>
          </p:cNvPr>
          <p:cNvCxnSpPr/>
          <p:nvPr/>
        </p:nvCxnSpPr>
        <p:spPr>
          <a:xfrm>
            <a:off x="888086" y="214862"/>
            <a:ext cx="0" cy="695810"/>
          </a:xfrm>
          <a:prstGeom prst="line">
            <a:avLst/>
          </a:prstGeom>
          <a:ln w="12700">
            <a:solidFill>
              <a:schemeClr val="dk1">
                <a:alpha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文本框 1">
            <a:extLst>
              <a:ext uri="{FF2B5EF4-FFF2-40B4-BE49-F238E27FC236}">
                <a16:creationId xmlns:a16="http://schemas.microsoft.com/office/drawing/2014/main" id="{5ADB81C3-4DE4-E738-B220-98F51DA843FB}"/>
              </a:ext>
            </a:extLst>
          </p:cNvPr>
          <p:cNvSpPr txBox="1"/>
          <p:nvPr/>
        </p:nvSpPr>
        <p:spPr>
          <a:xfrm>
            <a:off x="821270" y="1399241"/>
            <a:ext cx="10310508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zh-CN" altLang="en-US" sz="2800" dirty="0"/>
              <a:t>提示质量波动导致输出极不稳定：同一意图的微小表述差异即可引发正确性、安全性、可读性等多维度退化。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zh-CN" altLang="en-US" sz="2800" dirty="0"/>
              <a:t>现有评估局限： </a:t>
            </a:r>
            <a:endParaRPr lang="en-US" altLang="zh-CN" sz="2800" dirty="0"/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zh-CN" altLang="en-US" sz="2800" dirty="0"/>
              <a:t>表层指标（</a:t>
            </a:r>
            <a:r>
              <a:rPr lang="en-US" altLang="zh-CN" sz="2800" dirty="0"/>
              <a:t>BLEU</a:t>
            </a:r>
            <a:r>
              <a:rPr lang="zh-CN" altLang="en-US" sz="2800" dirty="0"/>
              <a:t>、</a:t>
            </a:r>
            <a:r>
              <a:rPr lang="en-US" altLang="zh-CN" sz="2800" dirty="0" err="1"/>
              <a:t>CodeBLEU</a:t>
            </a:r>
            <a:r>
              <a:rPr lang="zh-CN" altLang="en-US" sz="2800" dirty="0"/>
              <a:t>）或功能通过率（</a:t>
            </a:r>
            <a:r>
              <a:rPr lang="en-US" altLang="zh-CN" sz="2800" dirty="0" err="1"/>
              <a:t>pass@k</a:t>
            </a:r>
            <a:r>
              <a:rPr lang="zh-CN" altLang="en-US" sz="2800" dirty="0"/>
              <a:t>）只能刻画“结果”，无法解释“提示→代码”的因果链条。 </a:t>
            </a:r>
            <a:endParaRPr lang="en-US" altLang="zh-CN" sz="2800" dirty="0"/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zh-CN" altLang="en-US" sz="2800" dirty="0"/>
              <a:t>黑盒 </a:t>
            </a:r>
            <a:r>
              <a:rPr lang="en-US" altLang="zh-CN" sz="2800" dirty="0"/>
              <a:t>API </a:t>
            </a:r>
            <a:r>
              <a:rPr lang="zh-CN" altLang="en-US" sz="2800" dirty="0"/>
              <a:t>场景下，缺乏对模型内部机理的可观测性，传统可解释性方法失效。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zh-CN" altLang="en-US" sz="2800" dirty="0"/>
              <a:t>提示工程长期依赖人工试错，无系统化理论指导。</a:t>
            </a:r>
          </a:p>
        </p:txBody>
      </p:sp>
    </p:spTree>
    <p:extLst>
      <p:ext uri="{BB962C8B-B14F-4D97-AF65-F5344CB8AC3E}">
        <p14:creationId xmlns:p14="http://schemas.microsoft.com/office/powerpoint/2010/main" val="258893855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0ECF65-907A-42C7-8298-DAADFCC5AA34}" type="slidenum">
              <a:rPr lang="zh-CN" altLang="en-US" smtClean="0"/>
              <a:t>17</a:t>
            </a:fld>
            <a:endParaRPr lang="zh-CN" altLang="en-US"/>
          </a:p>
        </p:txBody>
      </p:sp>
      <p:cxnSp>
        <p:nvCxnSpPr>
          <p:cNvPr id="11" name="直接连接符 10"/>
          <p:cNvCxnSpPr/>
          <p:nvPr/>
        </p:nvCxnSpPr>
        <p:spPr>
          <a:xfrm flipV="1">
            <a:off x="888086" y="641433"/>
            <a:ext cx="10243692" cy="13555"/>
          </a:xfrm>
          <a:prstGeom prst="line">
            <a:avLst/>
          </a:prstGeom>
          <a:ln w="12700">
            <a:solidFill>
              <a:schemeClr val="accent3">
                <a:lumMod val="50000"/>
                <a:alpha val="50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3" name="文本框 12"/>
          <p:cNvSpPr txBox="1"/>
          <p:nvPr/>
        </p:nvSpPr>
        <p:spPr>
          <a:xfrm>
            <a:off x="888085" y="214862"/>
            <a:ext cx="795988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方法流程</a:t>
            </a:r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2818" y="299692"/>
            <a:ext cx="487370" cy="610980"/>
          </a:xfrm>
          <a:prstGeom prst="rect">
            <a:avLst/>
          </a:prstGeom>
        </p:spPr>
      </p:pic>
      <p:cxnSp>
        <p:nvCxnSpPr>
          <p:cNvPr id="17" name="直接连接符 16"/>
          <p:cNvCxnSpPr/>
          <p:nvPr/>
        </p:nvCxnSpPr>
        <p:spPr>
          <a:xfrm flipV="1">
            <a:off x="1060221" y="6304583"/>
            <a:ext cx="10071557" cy="1"/>
          </a:xfrm>
          <a:prstGeom prst="line">
            <a:avLst/>
          </a:prstGeom>
          <a:ln w="12700">
            <a:solidFill>
              <a:schemeClr val="accent3">
                <a:lumMod val="50000"/>
                <a:alpha val="50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3" name="直接连接符 2"/>
          <p:cNvCxnSpPr/>
          <p:nvPr/>
        </p:nvCxnSpPr>
        <p:spPr>
          <a:xfrm>
            <a:off x="888086" y="214862"/>
            <a:ext cx="0" cy="695810"/>
          </a:xfrm>
          <a:prstGeom prst="line">
            <a:avLst/>
          </a:prstGeom>
          <a:ln w="12700">
            <a:solidFill>
              <a:schemeClr val="dk1">
                <a:alpha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888085" y="1135379"/>
            <a:ext cx="10243692" cy="511743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1600" dirty="0"/>
              <a:t>阶段 </a:t>
            </a:r>
            <a:r>
              <a:rPr lang="en-US" altLang="zh-CN" sz="1600" dirty="0"/>
              <a:t>A</a:t>
            </a:r>
            <a:r>
              <a:rPr lang="zh-CN" altLang="en-US" sz="1600" dirty="0"/>
              <a:t>：</a:t>
            </a:r>
            <a:r>
              <a:rPr lang="en-US" altLang="zh-CN" sz="1600" dirty="0"/>
              <a:t>data collection</a:t>
            </a:r>
          </a:p>
          <a:p>
            <a:pPr marL="342900" indent="-342900">
              <a:buFont typeface="+mj-lt"/>
              <a:buAutoNum type="arabicPeriod"/>
            </a:pPr>
            <a:r>
              <a:rPr lang="en-US" altLang="zh-CN" sz="1600" dirty="0"/>
              <a:t>linguistic features for prompt</a:t>
            </a:r>
            <a:r>
              <a:rPr lang="zh-CN" altLang="en-US" sz="1600" dirty="0"/>
              <a:t>：用 </a:t>
            </a:r>
            <a:r>
              <a:rPr lang="en-US" altLang="zh-CN" sz="1600" dirty="0"/>
              <a:t>255 </a:t>
            </a:r>
            <a:r>
              <a:rPr lang="zh-CN" altLang="en-US" sz="1600" dirty="0"/>
              <a:t>维语言学特征（词法、句法、语义）将自然语言提示转为可计算向量。</a:t>
            </a:r>
            <a:r>
              <a:rPr lang="en-US" altLang="zh-CN" sz="1600" dirty="0">
                <a:hlinkClick r:id="rId4"/>
              </a:rPr>
              <a:t>https://lftk.readthedocs.io/en/latest/index.html</a:t>
            </a:r>
            <a:endParaRPr lang="zh-CN" altLang="en-US" sz="1600" dirty="0"/>
          </a:p>
          <a:p>
            <a:pPr marL="342900" indent="-342900">
              <a:buFont typeface="+mj-lt"/>
              <a:buAutoNum type="arabicPeriod"/>
            </a:pPr>
            <a:r>
              <a:rPr lang="en-US" altLang="zh-CN" sz="1600" dirty="0"/>
              <a:t>rephrasing</a:t>
            </a:r>
            <a:r>
              <a:rPr lang="zh-CN" altLang="en-US" sz="1600" dirty="0"/>
              <a:t>：设计 </a:t>
            </a:r>
            <a:r>
              <a:rPr lang="en-US" altLang="zh-CN" sz="1600" dirty="0"/>
              <a:t>12 </a:t>
            </a:r>
            <a:r>
              <a:rPr lang="zh-CN" altLang="en-US" sz="1600" dirty="0"/>
              <a:t>类元提示（</a:t>
            </a:r>
            <a:r>
              <a:rPr lang="en-US" altLang="zh-CN" sz="1600" dirty="0"/>
              <a:t>instruction/role/scenario</a:t>
            </a:r>
            <a:r>
              <a:rPr lang="zh-CN" altLang="en-US" sz="1600" dirty="0"/>
              <a:t>），调用 </a:t>
            </a:r>
            <a:r>
              <a:rPr lang="en-US" altLang="zh-CN" sz="1600" dirty="0"/>
              <a:t>GPT-3.5 </a:t>
            </a:r>
            <a:r>
              <a:rPr lang="zh-CN" altLang="en-US" sz="1600" dirty="0"/>
              <a:t>对原题进行改写，产生语义等价但风格多样的提示集合。</a:t>
            </a:r>
          </a:p>
          <a:p>
            <a:pPr marL="342900" indent="-342900">
              <a:buFont typeface="+mj-lt"/>
              <a:buAutoNum type="arabicPeriod"/>
            </a:pPr>
            <a:r>
              <a:rPr lang="en-US" altLang="zh-CN" sz="1600" dirty="0"/>
              <a:t>code metrics</a:t>
            </a:r>
            <a:r>
              <a:rPr lang="zh-CN" altLang="en-US" sz="1600" dirty="0"/>
              <a:t>：在 </a:t>
            </a:r>
            <a:r>
              <a:rPr lang="en-US" altLang="zh-CN" sz="1600" dirty="0" err="1"/>
              <a:t>APPS+BigCodeBench</a:t>
            </a:r>
            <a:r>
              <a:rPr lang="en-US" altLang="zh-CN" sz="1600" dirty="0"/>
              <a:t> </a:t>
            </a:r>
            <a:r>
              <a:rPr lang="zh-CN" altLang="en-US" sz="1600" dirty="0"/>
              <a:t>上，用 </a:t>
            </a:r>
            <a:r>
              <a:rPr lang="en-US" altLang="zh-CN" sz="1600" dirty="0"/>
              <a:t>4 </a:t>
            </a:r>
            <a:r>
              <a:rPr lang="zh-CN" altLang="en-US" sz="1600" dirty="0"/>
              <a:t>款 </a:t>
            </a:r>
            <a:r>
              <a:rPr lang="en-US" altLang="zh-CN" sz="1600" dirty="0"/>
              <a:t>LLM</a:t>
            </a:r>
            <a:r>
              <a:rPr lang="zh-CN" altLang="en-US" sz="1600" dirty="0"/>
              <a:t>（</a:t>
            </a:r>
            <a:r>
              <a:rPr lang="en-US" altLang="zh-CN" sz="1600" dirty="0"/>
              <a:t>GPT-Neo/3.5/4</a:t>
            </a:r>
            <a:r>
              <a:rPr lang="zh-CN" altLang="en-US" sz="1600" dirty="0"/>
              <a:t>、</a:t>
            </a:r>
            <a:r>
              <a:rPr lang="en-US" altLang="zh-CN" sz="1600" dirty="0"/>
              <a:t>Qwen-2.5</a:t>
            </a:r>
            <a:r>
              <a:rPr lang="zh-CN" altLang="en-US" sz="1600" dirty="0"/>
              <a:t>）各生成 </a:t>
            </a:r>
            <a:r>
              <a:rPr lang="en-US" altLang="zh-CN" sz="1600" dirty="0"/>
              <a:t>3 </a:t>
            </a:r>
            <a:r>
              <a:rPr lang="zh-CN" altLang="en-US" sz="1600" dirty="0"/>
              <a:t>份代码，记录 </a:t>
            </a:r>
            <a:r>
              <a:rPr lang="en-US" altLang="zh-CN" sz="1600" dirty="0"/>
              <a:t>10 </a:t>
            </a:r>
            <a:r>
              <a:rPr lang="zh-CN" altLang="en-US" sz="1600" dirty="0"/>
              <a:t>维代码指标（正确性、多样性、可读性、安全、超时等）。</a:t>
            </a:r>
            <a:endParaRPr lang="en-US" altLang="zh-CN" sz="1600" dirty="0"/>
          </a:p>
          <a:p>
            <a:pPr marL="342900" indent="-342900">
              <a:buFont typeface="+mj-lt"/>
              <a:buAutoNum type="arabicPeriod"/>
            </a:pPr>
            <a:endParaRPr lang="en-US" altLang="zh-CN" sz="1600" dirty="0"/>
          </a:p>
          <a:p>
            <a:r>
              <a:rPr lang="zh-CN" altLang="en-US" sz="1600" dirty="0"/>
              <a:t>阶段 </a:t>
            </a:r>
            <a:r>
              <a:rPr lang="en-US" altLang="zh-CN" sz="1600" dirty="0"/>
              <a:t>B</a:t>
            </a:r>
            <a:r>
              <a:rPr lang="zh-CN" altLang="en-US" sz="1600" dirty="0"/>
              <a:t>：因果推断与解释</a:t>
            </a:r>
          </a:p>
          <a:p>
            <a:pPr marL="342900" indent="-342900">
              <a:buFont typeface="+mj-lt"/>
              <a:buAutoNum type="arabicPeriod"/>
            </a:pPr>
            <a:r>
              <a:rPr lang="zh-CN" altLang="en-US" sz="1600" dirty="0"/>
              <a:t>因果发现：</a:t>
            </a:r>
            <a:endParaRPr lang="en-US" altLang="zh-CN" sz="1600" dirty="0"/>
          </a:p>
          <a:p>
            <a:pPr marL="800100" lvl="1" indent="-342900">
              <a:buFont typeface="+mj-lt"/>
              <a:buAutoNum type="arabicPeriod"/>
            </a:pPr>
            <a:r>
              <a:rPr lang="zh-CN" altLang="en-US" sz="1600" dirty="0"/>
              <a:t>采用梯度</a:t>
            </a:r>
            <a:r>
              <a:rPr lang="en-US" altLang="zh-CN" sz="1600" dirty="0"/>
              <a:t>-based </a:t>
            </a:r>
            <a:r>
              <a:rPr lang="zh-CN" altLang="en-US" sz="1600" dirty="0"/>
              <a:t>算法 </a:t>
            </a:r>
            <a:r>
              <a:rPr lang="en-US" altLang="zh-CN" sz="1600" dirty="0" err="1"/>
              <a:t>DiBS</a:t>
            </a:r>
            <a:r>
              <a:rPr lang="zh-CN" altLang="en-US" sz="1600" dirty="0"/>
              <a:t>，将“元提示→语言特征→代码指标”拆成两子图学习再拼接，解决高维变量爆炸问题。</a:t>
            </a:r>
          </a:p>
          <a:p>
            <a:pPr marL="342900" indent="-342900">
              <a:buFont typeface="+mj-lt"/>
              <a:buAutoNum type="arabicPeriod"/>
            </a:pPr>
            <a:r>
              <a:rPr lang="zh-CN" altLang="en-US" sz="1600" dirty="0"/>
              <a:t>因果推断：</a:t>
            </a:r>
            <a:endParaRPr lang="en-US" altLang="zh-CN" sz="1600" dirty="0"/>
          </a:p>
          <a:p>
            <a:pPr marL="800100" lvl="1" indent="-342900">
              <a:buFont typeface="+mj-lt"/>
              <a:buAutoNum type="arabicPeriod"/>
            </a:pPr>
            <a:r>
              <a:rPr lang="zh-CN" altLang="en-US" sz="1600" dirty="0"/>
              <a:t>用 </a:t>
            </a:r>
            <a:r>
              <a:rPr lang="en-US" altLang="zh-CN" sz="1600" dirty="0"/>
              <a:t>Double Machine Learning</a:t>
            </a:r>
            <a:r>
              <a:rPr lang="zh-CN" altLang="en-US" sz="1600" dirty="0"/>
              <a:t>（</a:t>
            </a:r>
            <a:r>
              <a:rPr lang="en-US" altLang="zh-CN" sz="1600" dirty="0"/>
              <a:t>DML</a:t>
            </a:r>
            <a:r>
              <a:rPr lang="zh-CN" altLang="en-US" sz="1600" dirty="0"/>
              <a:t>）估计 </a:t>
            </a:r>
            <a:r>
              <a:rPr lang="en-US" altLang="zh-CN" sz="1600" dirty="0"/>
              <a:t>Average Treatment Effect</a:t>
            </a:r>
            <a:r>
              <a:rPr lang="zh-CN" altLang="en-US" sz="1600" dirty="0"/>
              <a:t>（</a:t>
            </a:r>
            <a:r>
              <a:rPr lang="en-US" altLang="zh-CN" sz="1600" dirty="0"/>
              <a:t>ATE</a:t>
            </a:r>
            <a:r>
              <a:rPr lang="zh-CN" altLang="en-US" sz="1600" dirty="0"/>
              <a:t>），量化“某改写指令→某代码指标”的期望升降幅度。</a:t>
            </a:r>
          </a:p>
          <a:p>
            <a:pPr marL="342900" indent="-342900">
              <a:buFont typeface="+mj-lt"/>
              <a:buAutoNum type="arabicPeriod"/>
            </a:pPr>
            <a:r>
              <a:rPr lang="zh-CN" altLang="en-US" sz="1600" dirty="0"/>
              <a:t>可解释分析：</a:t>
            </a:r>
            <a:endParaRPr lang="en-US" altLang="zh-CN" sz="1600" dirty="0"/>
          </a:p>
          <a:p>
            <a:pPr marL="800100" lvl="1" indent="-342900">
              <a:buFont typeface="+mj-lt"/>
              <a:buAutoNum type="arabicPeriod"/>
            </a:pPr>
            <a:r>
              <a:rPr lang="zh-CN" altLang="en-US" sz="1600" dirty="0"/>
              <a:t>算法 </a:t>
            </a:r>
            <a:r>
              <a:rPr lang="en-US" altLang="zh-CN" sz="1600" dirty="0"/>
              <a:t>1 </a:t>
            </a:r>
            <a:r>
              <a:rPr lang="zh-CN" altLang="en-US" sz="1600" dirty="0"/>
              <a:t>自动定位“对目标指标影响最大”的前 </a:t>
            </a:r>
            <a:r>
              <a:rPr lang="en-US" altLang="zh-CN" sz="1600" dirty="0"/>
              <a:t>3 </a:t>
            </a:r>
            <a:r>
              <a:rPr lang="zh-CN" altLang="en-US" sz="1600" dirty="0"/>
              <a:t>个语言特征，给出可读的因果链解释（例：“</a:t>
            </a:r>
            <a:r>
              <a:rPr lang="en-US" altLang="zh-CN" sz="1600" dirty="0"/>
              <a:t>Long </a:t>
            </a:r>
            <a:r>
              <a:rPr lang="zh-CN" altLang="en-US" sz="1600" dirty="0"/>
              <a:t>指令→</a:t>
            </a:r>
            <a:r>
              <a:rPr lang="en-US" altLang="zh-CN" sz="1600" dirty="0" err="1"/>
              <a:t>t_word</a:t>
            </a:r>
            <a:r>
              <a:rPr lang="en-US" altLang="zh-CN" sz="1600" dirty="0"/>
              <a:t> </a:t>
            </a:r>
            <a:r>
              <a:rPr lang="zh-CN" altLang="en-US" sz="1600" dirty="0"/>
              <a:t>增加→</a:t>
            </a:r>
            <a:r>
              <a:rPr lang="en-US" altLang="zh-CN" sz="1600" dirty="0" err="1"/>
              <a:t>pass_rate</a:t>
            </a:r>
            <a:r>
              <a:rPr lang="en-US" altLang="zh-CN" sz="1600" dirty="0"/>
              <a:t> </a:t>
            </a:r>
            <a:r>
              <a:rPr lang="zh-CN" altLang="en-US" sz="1600" dirty="0"/>
              <a:t>下降”）。</a:t>
            </a:r>
          </a:p>
          <a:p>
            <a:pPr marL="342900" indent="-342900">
              <a:buFont typeface="+mj-lt"/>
              <a:buAutoNum type="arabicPeriod"/>
            </a:pPr>
            <a:endParaRPr lang="zh-CN" altLang="en-US" sz="1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9DF175-C8AE-4665-78E5-20ED22B137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6EEDE2C-0930-5E64-CA02-DF8E18F778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0ECF65-907A-42C7-8298-DAADFCC5AA34}" type="slidenum">
              <a:rPr lang="zh-CN" altLang="en-US" smtClean="0"/>
              <a:t>18</a:t>
            </a:fld>
            <a:endParaRPr lang="zh-CN" altLang="en-US"/>
          </a:p>
        </p:txBody>
      </p: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C3CA47D7-AE34-6D74-9412-D242D28E8E76}"/>
              </a:ext>
            </a:extLst>
          </p:cNvPr>
          <p:cNvCxnSpPr/>
          <p:nvPr/>
        </p:nvCxnSpPr>
        <p:spPr>
          <a:xfrm flipV="1">
            <a:off x="888086" y="641433"/>
            <a:ext cx="10243692" cy="13555"/>
          </a:xfrm>
          <a:prstGeom prst="line">
            <a:avLst/>
          </a:prstGeom>
          <a:ln w="12700">
            <a:solidFill>
              <a:schemeClr val="accent3">
                <a:lumMod val="50000"/>
                <a:alpha val="50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3" name="文本框 12">
            <a:extLst>
              <a:ext uri="{FF2B5EF4-FFF2-40B4-BE49-F238E27FC236}">
                <a16:creationId xmlns:a16="http://schemas.microsoft.com/office/drawing/2014/main" id="{72D1D672-73DE-A301-B6E9-BA3A092AAD4B}"/>
              </a:ext>
            </a:extLst>
          </p:cNvPr>
          <p:cNvSpPr txBox="1"/>
          <p:nvPr/>
        </p:nvSpPr>
        <p:spPr>
          <a:xfrm>
            <a:off x="888085" y="214862"/>
            <a:ext cx="795988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方法流程</a:t>
            </a:r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498CFC5B-D700-7640-3904-10A86264588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2818" y="299692"/>
            <a:ext cx="487370" cy="610980"/>
          </a:xfrm>
          <a:prstGeom prst="rect">
            <a:avLst/>
          </a:prstGeom>
        </p:spPr>
      </p:pic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6CD03D9E-061F-1F6D-F891-992B9C4D7E5D}"/>
              </a:ext>
            </a:extLst>
          </p:cNvPr>
          <p:cNvCxnSpPr/>
          <p:nvPr/>
        </p:nvCxnSpPr>
        <p:spPr>
          <a:xfrm flipV="1">
            <a:off x="1060221" y="6304583"/>
            <a:ext cx="10071557" cy="1"/>
          </a:xfrm>
          <a:prstGeom prst="line">
            <a:avLst/>
          </a:prstGeom>
          <a:ln w="12700">
            <a:solidFill>
              <a:schemeClr val="accent3">
                <a:lumMod val="50000"/>
                <a:alpha val="50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03F90426-6AC1-7DD4-615B-7F1B112DAF57}"/>
              </a:ext>
            </a:extLst>
          </p:cNvPr>
          <p:cNvCxnSpPr/>
          <p:nvPr/>
        </p:nvCxnSpPr>
        <p:spPr>
          <a:xfrm>
            <a:off x="888086" y="214862"/>
            <a:ext cx="0" cy="695810"/>
          </a:xfrm>
          <a:prstGeom prst="line">
            <a:avLst/>
          </a:prstGeom>
          <a:ln w="12700">
            <a:solidFill>
              <a:schemeClr val="dk1">
                <a:alpha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8" name="图片 7">
            <a:extLst>
              <a:ext uri="{FF2B5EF4-FFF2-40B4-BE49-F238E27FC236}">
                <a16:creationId xmlns:a16="http://schemas.microsoft.com/office/drawing/2014/main" id="{ED043A72-D0DA-39E1-6774-D9981A74096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6503" y="910672"/>
            <a:ext cx="7163715" cy="5186935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FBB1EC97-EDB5-40A2-EC39-FB9FBF8DB60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23903" y="2081313"/>
            <a:ext cx="3509055" cy="27451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488994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0ECF65-907A-42C7-8298-DAADFCC5AA34}" type="slidenum">
              <a:rPr lang="zh-CN" altLang="en-US" smtClean="0"/>
              <a:t>19</a:t>
            </a:fld>
            <a:endParaRPr lang="zh-CN" altLang="en-US"/>
          </a:p>
        </p:txBody>
      </p:sp>
      <p:cxnSp>
        <p:nvCxnSpPr>
          <p:cNvPr id="11" name="直接连接符 10"/>
          <p:cNvCxnSpPr/>
          <p:nvPr/>
        </p:nvCxnSpPr>
        <p:spPr>
          <a:xfrm flipV="1">
            <a:off x="888086" y="641433"/>
            <a:ext cx="10243692" cy="13555"/>
          </a:xfrm>
          <a:prstGeom prst="line">
            <a:avLst/>
          </a:prstGeom>
          <a:ln w="12700">
            <a:solidFill>
              <a:schemeClr val="accent3">
                <a:lumMod val="50000"/>
                <a:alpha val="50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3" name="文本框 12"/>
          <p:cNvSpPr txBox="1"/>
          <p:nvPr/>
        </p:nvSpPr>
        <p:spPr>
          <a:xfrm>
            <a:off x="936876" y="216323"/>
            <a:ext cx="795988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数据集与模型</a:t>
            </a:r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2818" y="299692"/>
            <a:ext cx="487370" cy="610980"/>
          </a:xfrm>
          <a:prstGeom prst="rect">
            <a:avLst/>
          </a:prstGeom>
        </p:spPr>
      </p:pic>
      <p:cxnSp>
        <p:nvCxnSpPr>
          <p:cNvPr id="17" name="直接连接符 16"/>
          <p:cNvCxnSpPr/>
          <p:nvPr/>
        </p:nvCxnSpPr>
        <p:spPr>
          <a:xfrm flipV="1">
            <a:off x="1060221" y="6304583"/>
            <a:ext cx="10071557" cy="1"/>
          </a:xfrm>
          <a:prstGeom prst="line">
            <a:avLst/>
          </a:prstGeom>
          <a:ln w="12700">
            <a:solidFill>
              <a:schemeClr val="accent3">
                <a:lumMod val="50000"/>
                <a:alpha val="50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3" name="直接连接符 2"/>
          <p:cNvCxnSpPr/>
          <p:nvPr/>
        </p:nvCxnSpPr>
        <p:spPr>
          <a:xfrm>
            <a:off x="888086" y="214862"/>
            <a:ext cx="0" cy="695810"/>
          </a:xfrm>
          <a:prstGeom prst="line">
            <a:avLst/>
          </a:prstGeom>
          <a:ln w="12700">
            <a:solidFill>
              <a:schemeClr val="dk1">
                <a:alpha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936876" y="1627841"/>
            <a:ext cx="10166579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数据集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APPS</a:t>
            </a:r>
            <a:r>
              <a:rPr lang="zh-CN" altLang="en-US" dirty="0"/>
              <a:t>：</a:t>
            </a:r>
            <a:r>
              <a:rPr lang="en-US" altLang="zh-CN" dirty="0"/>
              <a:t>10k </a:t>
            </a:r>
            <a:r>
              <a:rPr lang="zh-CN" altLang="en-US" dirty="0"/>
              <a:t>道 </a:t>
            </a:r>
            <a:r>
              <a:rPr lang="en-US" altLang="zh-CN" dirty="0"/>
              <a:t>Python </a:t>
            </a:r>
            <a:r>
              <a:rPr lang="zh-CN" altLang="en-US" dirty="0"/>
              <a:t>编程题，难度覆盖入门到竞赛级，配官方测试用例与参考答案。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 err="1"/>
              <a:t>BigCodeBench</a:t>
            </a:r>
            <a:r>
              <a:rPr lang="zh-CN" altLang="en-US" dirty="0"/>
              <a:t>（</a:t>
            </a:r>
            <a:r>
              <a:rPr lang="en-US" altLang="zh-CN" dirty="0"/>
              <a:t>BCB</a:t>
            </a:r>
            <a:r>
              <a:rPr lang="zh-CN" altLang="en-US" dirty="0"/>
              <a:t>）：</a:t>
            </a:r>
            <a:r>
              <a:rPr lang="en-US" altLang="zh-CN" dirty="0"/>
              <a:t>1k </a:t>
            </a:r>
            <a:r>
              <a:rPr lang="zh-CN" altLang="en-US" dirty="0"/>
              <a:t>道更贴近真实开发的 </a:t>
            </a:r>
            <a:r>
              <a:rPr lang="en-US" altLang="zh-CN" dirty="0"/>
              <a:t>Python </a:t>
            </a:r>
            <a:r>
              <a:rPr lang="zh-CN" altLang="en-US" dirty="0"/>
              <a:t>题，大量调用第三方库，难度更高；两者合并用于因果图训练与评估。</a:t>
            </a:r>
          </a:p>
          <a:p>
            <a:endParaRPr lang="zh-CN" altLang="en-US" dirty="0"/>
          </a:p>
          <a:p>
            <a:r>
              <a:rPr lang="zh-CN" altLang="en-US" dirty="0"/>
              <a:t>模型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GPT-Neo</a:t>
            </a:r>
            <a:r>
              <a:rPr lang="zh-CN" altLang="en-US" dirty="0"/>
              <a:t>（</a:t>
            </a:r>
            <a:r>
              <a:rPr lang="en-US" altLang="zh-CN" dirty="0"/>
              <a:t>2.7B</a:t>
            </a:r>
            <a:r>
              <a:rPr lang="zh-CN" altLang="en-US" dirty="0"/>
              <a:t>）：小型开源代表示范，易过拟合。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GPT-3.5-Turbo</a:t>
            </a:r>
            <a:r>
              <a:rPr lang="zh-CN" altLang="en-US" dirty="0"/>
              <a:t>：最广泛使用的商用接口，负责提示改写与代码生成。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GPT-4</a:t>
            </a:r>
            <a:r>
              <a:rPr lang="zh-CN" altLang="en-US" dirty="0"/>
              <a:t>：当前最强商用模型，作为生成能力上限参照。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Qwen-2.5-Coder</a:t>
            </a:r>
            <a:r>
              <a:rPr lang="zh-CN" altLang="en-US" dirty="0"/>
              <a:t>（</a:t>
            </a:r>
            <a:r>
              <a:rPr lang="en-US" altLang="zh-CN" dirty="0"/>
              <a:t>14B</a:t>
            </a:r>
            <a:r>
              <a:rPr lang="zh-CN" altLang="en-US" dirty="0"/>
              <a:t>）：开源大模型新标杆，验证框架跨模型通用性。</a:t>
            </a:r>
            <a:endParaRPr lang="en-US" altLang="zh-CN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0ECF65-907A-42C7-8298-DAADFCC5AA34}" type="slidenum">
              <a:rPr lang="zh-CN" altLang="en-US" smtClean="0"/>
              <a:t>20</a:t>
            </a:fld>
            <a:endParaRPr lang="zh-CN" altLang="en-US"/>
          </a:p>
        </p:txBody>
      </p:sp>
      <p:cxnSp>
        <p:nvCxnSpPr>
          <p:cNvPr id="11" name="直接连接符 10"/>
          <p:cNvCxnSpPr/>
          <p:nvPr/>
        </p:nvCxnSpPr>
        <p:spPr>
          <a:xfrm flipV="1">
            <a:off x="888086" y="641433"/>
            <a:ext cx="10243692" cy="13555"/>
          </a:xfrm>
          <a:prstGeom prst="line">
            <a:avLst/>
          </a:prstGeom>
          <a:ln w="12700">
            <a:solidFill>
              <a:schemeClr val="accent3">
                <a:lumMod val="50000"/>
                <a:alpha val="50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3" name="文本框 12"/>
          <p:cNvSpPr txBox="1"/>
          <p:nvPr/>
        </p:nvSpPr>
        <p:spPr>
          <a:xfrm>
            <a:off x="936876" y="216323"/>
            <a:ext cx="795988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linguistic features</a:t>
            </a:r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2818" y="299692"/>
            <a:ext cx="487370" cy="610980"/>
          </a:xfrm>
          <a:prstGeom prst="rect">
            <a:avLst/>
          </a:prstGeom>
        </p:spPr>
      </p:pic>
      <p:cxnSp>
        <p:nvCxnSpPr>
          <p:cNvPr id="17" name="直接连接符 16"/>
          <p:cNvCxnSpPr/>
          <p:nvPr/>
        </p:nvCxnSpPr>
        <p:spPr>
          <a:xfrm flipV="1">
            <a:off x="1060221" y="6304583"/>
            <a:ext cx="10071557" cy="1"/>
          </a:xfrm>
          <a:prstGeom prst="line">
            <a:avLst/>
          </a:prstGeom>
          <a:ln w="12700">
            <a:solidFill>
              <a:schemeClr val="accent3">
                <a:lumMod val="50000"/>
                <a:alpha val="50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3" name="直接连接符 2"/>
          <p:cNvCxnSpPr/>
          <p:nvPr/>
        </p:nvCxnSpPr>
        <p:spPr>
          <a:xfrm>
            <a:off x="888086" y="214862"/>
            <a:ext cx="0" cy="695810"/>
          </a:xfrm>
          <a:prstGeom prst="line">
            <a:avLst/>
          </a:prstGeom>
          <a:ln w="12700">
            <a:solidFill>
              <a:schemeClr val="dk1">
                <a:alpha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6" name="图片 5">
            <a:extLst>
              <a:ext uri="{FF2B5EF4-FFF2-40B4-BE49-F238E27FC236}">
                <a16:creationId xmlns:a16="http://schemas.microsoft.com/office/drawing/2014/main" id="{CB81E549-23C2-6EDA-32A9-27E63EBBFA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7075" y="1267095"/>
            <a:ext cx="10085714" cy="432380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490</TotalTime>
  <Words>3195</Words>
  <Application>Microsoft Office PowerPoint</Application>
  <PresentationFormat>宽屏</PresentationFormat>
  <Paragraphs>218</Paragraphs>
  <Slides>20</Slides>
  <Notes>20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25" baseType="lpstr">
      <vt:lpstr>等线</vt:lpstr>
      <vt:lpstr>等线 Light</vt:lpstr>
      <vt:lpstr>微软雅黑</vt:lpstr>
      <vt:lpstr>Arial</vt:lpstr>
      <vt:lpstr>Office 主题​​</vt:lpstr>
      <vt:lpstr>A Survey of Event Causality Identification: Taxonomy, Challenges, Assessment, and Prospects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Digging Into the Internal:  Causality-Based Analysis of LLM Function Calling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Causality-Aided Evaluation and Explanation of Large Language Model-Based Code Generation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仕宇 孙</dc:creator>
  <cp:lastModifiedBy>仕宇 孙</cp:lastModifiedBy>
  <cp:revision>108</cp:revision>
  <dcterms:created xsi:type="dcterms:W3CDTF">2025-03-14T05:58:00Z</dcterms:created>
  <dcterms:modified xsi:type="dcterms:W3CDTF">2026-01-22T09:44:16Z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2052-12.1.0.24657</vt:lpwstr>
  </property>
  <property fmtid="{D5CDD505-2E9C-101B-9397-08002B2CF9AE}" pid="3" name="ICV">
    <vt:lpwstr>55B1AF0274BA4EC28D637539FE584E35_13</vt:lpwstr>
  </property>
</Properties>
</file>