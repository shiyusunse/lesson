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4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5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6.xml" ContentType="application/vnd.openxmlformats-officedocument.presentationml.notesSlide+xml"/>
  <Override PartName="/ppt/comments/comment5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300" r:id="rId3"/>
    <p:sldId id="310" r:id="rId4"/>
    <p:sldId id="312" r:id="rId5"/>
    <p:sldId id="313" r:id="rId6"/>
    <p:sldId id="31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仕宇 孙" initials="仕孙" lastIdx="8" clrIdx="0">
    <p:extLst>
      <p:ext uri="{19B8F6BF-5375-455C-9EA6-DF929625EA0E}">
        <p15:presenceInfo xmlns:p15="http://schemas.microsoft.com/office/powerpoint/2012/main" userId="32cd66214f189e3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075" autoAdjust="0"/>
  </p:normalViewPr>
  <p:slideViewPr>
    <p:cSldViewPr snapToGrid="0" showGuides="1">
      <p:cViewPr varScale="1">
        <p:scale>
          <a:sx n="99" d="100"/>
          <a:sy n="99" d="100"/>
        </p:scale>
        <p:origin x="96" y="3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20T21:31:15.456" idx="8">
    <p:pos x="2068" y="1091"/>
    <p:text>不用翻译成中文，加上会议名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20T15:00:28.279" idx="2">
    <p:pos x="1437" y="158"/>
    <p:text>方法的描述不够具体，按照原文的步骤直接分步介绍即可，不用总结，这样更好理解方法在干什么</p:text>
    <p:extLst>
      <p:ext uri="{C676402C-5697-4E1C-873F-D02D1690AC5C}">
        <p15:threadingInfo xmlns:p15="http://schemas.microsoft.com/office/powerpoint/2012/main" timeZoneBias="-480"/>
      </p:ext>
    </p:extLst>
  </p:cm>
  <p:cm authorId="1" dt="2026-01-20T15:03:41.075" idx="3">
    <p:pos x="6324" y="903"/>
    <p:text>比如这篇文章就按照Discovering Spurious Features和Removing Spurious Features两步来介绍如何发现Spurious Feature，然后重点关注因果在其中的应用，而不是只保留了因果的应用部分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20T15:05:05.549" idx="4">
    <p:pos x="1273" y="158"/>
    <p:text>因果在软工中应用的挑战之一也就是如何建模度量，所以数据集部分重点关注数据集特征的物理含义，有物理含义的特征建模的因果关系才有意义</p:text>
    <p:extLst>
      <p:ext uri="{C676402C-5697-4E1C-873F-D02D1690AC5C}">
        <p15:threadingInfo xmlns:p15="http://schemas.microsoft.com/office/powerpoint/2012/main" timeZoneBias="-480"/>
      </p:ext>
    </p:extLst>
  </p:cm>
  <p:cm authorId="1" dt="2026-01-20T15:14:33.648" idx="6">
    <p:pos x="1409" y="294"/>
    <p:text>model也可以列一下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20T15:06:54.351" idx="5">
    <p:pos x="1273" y="158"/>
    <p:text>可以修改名字为：思路1：扩展新场景     如果有其他的思路就是思路2、3......，主要考虑能在这篇工作的基础上做什么，开新场景是一个，也包括其他的例如能否在方法上做优化，或者结合另一个方法做A+B的方法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20T21:30:39.080" idx="7">
    <p:pos x="1467" y="158"/>
    <p:text>这个没理解错的话应该是思路2？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79C4C-20C0-495B-A83F-7510644F5652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2E2FD-4E8D-467C-ACF2-00F9894812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Good morning!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I’m </a:t>
            </a:r>
            <a:r>
              <a:rPr lang="en-US" altLang="zh-CN" dirty="0" err="1"/>
              <a:t>ssy</a:t>
            </a:r>
            <a:r>
              <a:rPr lang="en-US" altLang="zh-CN" dirty="0"/>
              <a:t> from  Nanjing 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I’m going to talk about my work for defect prediction a boosting line level defect prediction method,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combining Spectrum information and Causality analysis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conclude our method,</a:t>
            </a:r>
          </a:p>
          <a:p>
            <a:r>
              <a:rPr lang="en-US" altLang="zh-CN" dirty="0"/>
              <a:t>Firstly, our method </a:t>
            </a:r>
            <a:r>
              <a:rPr lang="en-US" altLang="zh-CN" sz="1200" b="1" dirty="0"/>
              <a:t>fully Exploits historical line-level label information.</a:t>
            </a:r>
          </a:p>
          <a:p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Methods mentioned above have not fully leveraged the historical code-line level labels.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Due to the vast number of code lines and the sparsity of the tokens they contain,  using historical code-line-level label information was a significant challenge before.</a:t>
            </a:r>
            <a:endParaRPr lang="zh-CN" altLang="en-US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address this issue, we propose the method to construct a direct connection between tokens and code-line-level defects using historical code-line-level label information. </a:t>
            </a:r>
          </a:p>
          <a:p>
            <a:r>
              <a:rPr lang="en-US" altLang="zh-CN" dirty="0"/>
              <a:t>And we design a novel angle to reshape tokens and line-level defects with the term of the program spectrum and causality analysis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address this issue, we propose the method to construct a direct connection between tokens and code-line-level defects using historical code-line-level label information. </a:t>
            </a:r>
          </a:p>
          <a:p>
            <a:r>
              <a:rPr lang="en-US" altLang="zh-CN" dirty="0"/>
              <a:t>And we design a novel angle to reshape tokens and line-level defects with the term of the program spectrum and causality analysis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address this issue, we propose the method to construct a direct connection between tokens and code-line-level defects using historical code-line-level label information. </a:t>
            </a:r>
          </a:p>
          <a:p>
            <a:r>
              <a:rPr lang="en-US" altLang="zh-CN" dirty="0"/>
              <a:t>And we design a novel angle to reshape tokens and line-level defects with the term of the program spectrum and causality analysis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address this issue, we propose the method to construct a direct connection between tokens and code-line-level defects using historical code-line-level label information. </a:t>
            </a:r>
          </a:p>
          <a:p>
            <a:r>
              <a:rPr lang="en-US" altLang="zh-CN" dirty="0"/>
              <a:t>And we design a novel angle to reshape tokens and line-level defects with the term of the program spectrum and causality analysis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0548" y="2026487"/>
            <a:ext cx="10134862" cy="1402513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Towards Causal Deep Learning for Vulnerability Detection</a:t>
            </a:r>
            <a:endParaRPr lang="zh-CN" altLang="en-US" sz="4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94" y="249107"/>
            <a:ext cx="2645535" cy="841313"/>
          </a:xfrm>
          <a:prstGeom prst="rect">
            <a:avLst/>
          </a:prstGeom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BA785C-ACC4-A9EE-2D17-1027C52C60A2}"/>
              </a:ext>
            </a:extLst>
          </p:cNvPr>
          <p:cNvSpPr txBox="1"/>
          <p:nvPr/>
        </p:nvSpPr>
        <p:spPr>
          <a:xfrm>
            <a:off x="3337286" y="3841847"/>
            <a:ext cx="55174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ICSE 2024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888086" y="641433"/>
            <a:ext cx="10243692" cy="13555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36876" y="216323"/>
            <a:ext cx="7959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应用场景与任务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8" y="299692"/>
            <a:ext cx="487370" cy="610980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 flipV="1">
            <a:off x="1060221" y="6304583"/>
            <a:ext cx="10071557" cy="1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888086" y="214862"/>
            <a:ext cx="0" cy="695810"/>
          </a:xfrm>
          <a:prstGeom prst="line">
            <a:avLst/>
          </a:prstGeom>
          <a:ln w="1270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60221" y="1399241"/>
            <a:ext cx="916728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深度学习代码漏洞检测方面，解决模型学习了与标签具有虚假相关性的非鲁棒特征（比如变量名，api名）的问题，禁用模型使用虚假特征并促进模型使用因果特征进行预测。提高模型的准确性、鲁棒性和泛化性。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888086" y="641433"/>
            <a:ext cx="10243692" cy="13555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888085" y="214862"/>
            <a:ext cx="7959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因果应用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8" y="299692"/>
            <a:ext cx="487370" cy="610980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 flipV="1">
            <a:off x="1060221" y="6304583"/>
            <a:ext cx="10071557" cy="1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888086" y="214862"/>
            <a:ext cx="0" cy="695810"/>
          </a:xfrm>
          <a:prstGeom prst="line">
            <a:avLst/>
          </a:prstGeom>
          <a:ln w="1270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60221" y="1399241"/>
            <a:ext cx="916728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因果学习将给定的模型置于干预之下，计算该模型在没有虚假特征的情况下将如何表现</a:t>
            </a:r>
            <a:r>
              <a:rPr lang="en-US" altLang="zh-CN" sz="2800" dirty="0"/>
              <a:t>,</a:t>
            </a:r>
            <a:r>
              <a:rPr lang="zh-CN" altLang="en-US" sz="2800" dirty="0"/>
              <a:t>因果修正发生在</a:t>
            </a:r>
            <a:r>
              <a:rPr lang="en-US" altLang="zh-CN" sz="2800" dirty="0"/>
              <a:t>“</a:t>
            </a:r>
            <a:r>
              <a:rPr lang="zh-CN" altLang="en-US" sz="2800" dirty="0"/>
              <a:t>推理阶段</a:t>
            </a:r>
            <a:r>
              <a:rPr lang="en-US" altLang="zh-CN" sz="2800" dirty="0"/>
              <a:t>”</a:t>
            </a:r>
            <a:r>
              <a:rPr lang="zh-CN" altLang="en-US" sz="2800" dirty="0"/>
              <a:t>，不是重新训练大模型。先构造</a:t>
            </a:r>
            <a:r>
              <a:rPr lang="en-US" altLang="zh-CN" sz="2800" dirty="0"/>
              <a:t> x′</a:t>
            </a:r>
            <a:r>
              <a:rPr lang="zh-CN" altLang="en-US" sz="2800" dirty="0"/>
              <a:t>：与</a:t>
            </a:r>
            <a:r>
              <a:rPr lang="en-US" altLang="zh-CN" sz="2800" dirty="0"/>
              <a:t> x </a:t>
            </a:r>
            <a:r>
              <a:rPr lang="zh-CN" altLang="en-US" sz="2800" dirty="0"/>
              <a:t>同标签，共享伪相关特征，不共享根因。然后在推理阶段，固定原始代码</a:t>
            </a:r>
            <a:r>
              <a:rPr lang="en-US" altLang="zh-CN" sz="2800" dirty="0"/>
              <a:t> x</a:t>
            </a:r>
            <a:r>
              <a:rPr lang="zh-CN" altLang="en-US" sz="2800" dirty="0"/>
              <a:t>，多次采样不同的</a:t>
            </a:r>
            <a:r>
              <a:rPr lang="en-US" altLang="zh-CN" sz="2800" dirty="0"/>
              <a:t> x′</a:t>
            </a:r>
            <a:r>
              <a:rPr lang="zh-CN" altLang="en-US" sz="2800" dirty="0"/>
              <a:t>，对预测结果做加权平均来消除虚假特征。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888086" y="641433"/>
            <a:ext cx="10243692" cy="13555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36876" y="216323"/>
            <a:ext cx="7959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8" y="299692"/>
            <a:ext cx="487370" cy="610980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 flipV="1">
            <a:off x="1060221" y="6304583"/>
            <a:ext cx="10071557" cy="1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888086" y="214862"/>
            <a:ext cx="0" cy="695810"/>
          </a:xfrm>
          <a:prstGeom prst="line">
            <a:avLst/>
          </a:prstGeom>
          <a:ln w="1270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60221" y="1399241"/>
            <a:ext cx="91672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1.Devign </a:t>
            </a:r>
            <a:r>
              <a:rPr lang="zh-CN" altLang="en-US" sz="2800" dirty="0"/>
              <a:t>数据集：一个相对均衡的数据集，主要来自</a:t>
            </a:r>
            <a:r>
              <a:rPr lang="en-US" altLang="zh-CN" sz="2800" dirty="0"/>
              <a:t>QEMU </a:t>
            </a:r>
            <a:r>
              <a:rPr lang="zh-CN" altLang="en-US" sz="2800" dirty="0"/>
              <a:t>和</a:t>
            </a:r>
            <a:r>
              <a:rPr lang="en-US" altLang="zh-CN" sz="2800" dirty="0"/>
              <a:t> FFmpeg </a:t>
            </a:r>
            <a:r>
              <a:rPr lang="zh-CN" altLang="en-US" sz="2800" dirty="0"/>
              <a:t>项目；</a:t>
            </a:r>
          </a:p>
          <a:p>
            <a:endParaRPr lang="en-US" altLang="zh-CN" sz="2800" dirty="0"/>
          </a:p>
          <a:p>
            <a:r>
              <a:rPr lang="en-US" altLang="zh-CN" sz="2800" dirty="0"/>
              <a:t>2.Big-Vul </a:t>
            </a:r>
            <a:r>
              <a:rPr lang="zh-CN" altLang="en-US" sz="2800" dirty="0"/>
              <a:t>数据集：一个大规模但高度不平衡的数据集，来源于</a:t>
            </a:r>
            <a:r>
              <a:rPr lang="en-US" altLang="zh-CN" sz="2800" dirty="0"/>
              <a:t> CVE </a:t>
            </a:r>
            <a:r>
              <a:rPr lang="zh-CN" altLang="en-US" sz="2800" dirty="0"/>
              <a:t>漏洞信息。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888086" y="641433"/>
            <a:ext cx="10243692" cy="13555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36876" y="216323"/>
            <a:ext cx="7959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新场景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8" y="299692"/>
            <a:ext cx="487370" cy="610980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 flipV="1">
            <a:off x="1060221" y="6304583"/>
            <a:ext cx="10071557" cy="1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888086" y="214862"/>
            <a:ext cx="0" cy="695810"/>
          </a:xfrm>
          <a:prstGeom prst="line">
            <a:avLst/>
          </a:prstGeom>
          <a:ln w="1270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60450" y="1399540"/>
            <a:ext cx="9167495" cy="1845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/>
              <a:t>1.</a:t>
            </a:r>
            <a:r>
              <a:rPr lang="zh-CN" altLang="en-US" sz="2800" dirty="0"/>
              <a:t>日志的异常检测，排除比如事务名字等伪特征的干扰</a:t>
            </a:r>
          </a:p>
          <a:p>
            <a:r>
              <a:rPr lang="en-US" altLang="zh-CN" sz="2800" dirty="0"/>
              <a:t>2.</a:t>
            </a:r>
            <a:r>
              <a:rPr lang="zh-CN" altLang="en-US" sz="2800" dirty="0"/>
              <a:t>代码查重，排除改变变量名等对查重的影响</a:t>
            </a:r>
          </a:p>
          <a:p>
            <a:r>
              <a:rPr lang="en-US" altLang="zh-CN" sz="2800" dirty="0"/>
              <a:t>3.</a:t>
            </a:r>
            <a:r>
              <a:rPr lang="zh-CN" altLang="en-US" sz="2800" dirty="0"/>
              <a:t>恶意代码的检测。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888086" y="641433"/>
            <a:ext cx="10243692" cy="13555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36876" y="216323"/>
            <a:ext cx="7959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方法提升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8" y="299692"/>
            <a:ext cx="487370" cy="610980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 flipV="1">
            <a:off x="1060221" y="6304583"/>
            <a:ext cx="10071557" cy="1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888086" y="214862"/>
            <a:ext cx="0" cy="695810"/>
          </a:xfrm>
          <a:prstGeom prst="line">
            <a:avLst/>
          </a:prstGeom>
          <a:ln w="1270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60221" y="1399241"/>
            <a:ext cx="916728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1.</a:t>
            </a:r>
            <a:r>
              <a:rPr lang="zh-CN" altLang="en-US" sz="2800" dirty="0"/>
              <a:t>文章只假设了变量名和</a:t>
            </a:r>
            <a:r>
              <a:rPr lang="en-US" altLang="zh-CN" sz="2800" dirty="0"/>
              <a:t>api</a:t>
            </a:r>
            <a:r>
              <a:rPr lang="zh-CN" altLang="en-US" sz="2800" dirty="0"/>
              <a:t>名两者伪特征，可以拓展到别的比如代码风格之类的。</a:t>
            </a:r>
          </a:p>
          <a:p>
            <a:r>
              <a:rPr lang="en-US" altLang="zh-CN" sz="2800" dirty="0"/>
              <a:t>2.</a:t>
            </a:r>
            <a:r>
              <a:rPr lang="zh-CN" altLang="en-US" sz="2800" dirty="0"/>
              <a:t>可以自动发现伪特征，即施加扰动，然后找到改变预测结果却不改变运行结果或者说语义的特征。</a:t>
            </a:r>
          </a:p>
          <a:p>
            <a:r>
              <a:rPr lang="en-US" altLang="zh-CN" sz="2800" dirty="0"/>
              <a:t>3.</a:t>
            </a:r>
            <a:r>
              <a:rPr lang="zh-CN" altLang="en-US" sz="2800" dirty="0"/>
              <a:t>文章是推理的时候进行去除伪特征的影响，可不可以训练的时候就干。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611</Words>
  <Application>Microsoft Office PowerPoint</Application>
  <PresentationFormat>宽屏</PresentationFormat>
  <Paragraphs>52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微软雅黑</vt:lpstr>
      <vt:lpstr>Arial</vt:lpstr>
      <vt:lpstr>Office 主题​​</vt:lpstr>
      <vt:lpstr>Towards Causal Deep Learning for Vulnerability Detection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仕宇 孙</dc:creator>
  <cp:lastModifiedBy>仕宇 孙</cp:lastModifiedBy>
  <cp:revision>98</cp:revision>
  <dcterms:created xsi:type="dcterms:W3CDTF">2025-03-14T05:58:00Z</dcterms:created>
  <dcterms:modified xsi:type="dcterms:W3CDTF">2026-01-20T13:32:31Z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CF623B0D7FF145FE92F77A465004B571_13</vt:lpwstr>
  </property>
</Properties>
</file>